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Today we're presenting our Web Programming midterm project — Advanced Identity and Access Management. The goal was to build, from scratch, an authentication system that goes beyond a simple email-and-password form. We added four modern authentication pillars on top of a React, Node, and MongoDB stack. I'm Member A, and Member B will walk you through the architecture and demo. Together it's about fifteen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plan. First, the theory — the four pillars that make up our IAM stack, why we chose each one, and how they fit together. Then a quick tour of the backend architecture and the tech stack. And we'll close with a live demo: registration, login, two-factor, OAuth, a passkey, and an admin route. Let's get into pillar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Pillar one is OAuth 2.0. We use Passport.js to implement the standard Authorization Code Flow with two providers, Google and GitHub. The user clicks Login with Google, gets redirected to Google to consent, Google sends us back an authorization code, and our server exchanges that code for the user's profile. The detail we want to highlight is account linking — if a user signs up with Google and later with GitHub using the same email, we link both providers to one account instead of creating duplicates.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Pillar two is JSON Web Tokens. We use a token pair. The access token is short-lived — fifteen minutes — and lives only in memory in the React app, so it can't be stolen from local storage. The refresh token is long-lived — seven days — and lives in an HTTP-only cookie that JavaScript can't read. The interesting part is rotation: every time a refresh token is used, we delete it and issue a new one. If we ever see a deleted refresh token being used again, that's a replay attack, and we invalidate the whole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Pillar three is WebAuthn — passkeys. This is the modern, phishing-resistant alternative to passwords. The browser, using SimpleWebAuthn on our side, generates a public-private key pair tied to our domain. The private key never leaves the device — it's stored in the secure enclave, Touch ID, Windows Hello, or a hardware key. We only store the public key. Because the credential is bound to the origin, it cannot be phished — a fake site can't trigger your real passkey.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Pillar four is Role-Based Access Control. We keep it deliberately simple — two roles, user and admin. The role lives on the user document. On the server, we have one middleware called authenticate that verifies the JWT, and another called authorize that checks the role. Admin routes are guarded by chaining them — authenticate, then authorize admin. It's a small amount of code that protects the whole admin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architecture. The backend is layered. Routes only handle HTTP — parsing requests, returning responses. They call into services, which hold the business logic: hashService wraps Argon2id, tokenService issues and rotates JWTs, webauthnService handles passkey registration and assertion. Middleware sits between routes and services for cross-cutting concerns like authentication and authorization. And one User model in MongoDB carries everything — email, password hash, role, the OAuth provider IDs, the 2FA secret, and the array of registered passkeys.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stack itself — React with Vite on the frontend for fast iteration, Node and Express on the backend, MongoDB Atlas for the database. The four libraries that do the heavy lifting are Passport for OAuth, jsonwebtoken for JWT, SimpleWebAuthn for passkeys, and argon2 for password hashing. Everything runs locally with no build step beyond Vite.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live demo, we'll move through six things in order. First, register a new account and show the Argon2 hash that's actually stored in the database. Then log in and inspect the JWT in the browser dev tools. Third, enable two-factor authentication and use a backup code. Fourth, log in again with Google OAuth and show the account linking. Fifth, register a passkey on this laptop and log in with just a fingerprint. And finally, hit an admin-only route as a user, get rejected, then as an admin, succeed.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security recap before we close. Passwords are hashed with Argon2id, the OWASP-recommended algorithm, with sixty-four megabytes of memory and a time cost of three — deliberately slow to defeat GPU cracking. Two-factor backup codes are themselves hashed, not stored in plain text. Refresh tokens rotate on every use, so a stolen one is single-use. Access tokens are short-lived to limit blast radius. And passkeys are phishing-resistant by design. None of these are exotic — they're current best practice, and we wanted the project to reflect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 four pillars: OAuth for federated login, JWT for stateless sessions with rotation, WebAuthn for phishing-resistant biometric login, and RBAC for authorization. Layered backend, modern hashing, and a working demo. Thank you — we're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1066800" y="914400"/>
            <a:ext cx="16639032" cy="3333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818CF8"/>
                </a:solidFill>
                <a:latin typeface="JetBrains Mono" pitchFamily="34" charset="0"/>
                <a:ea typeface="JetBrains Mono" pitchFamily="34" charset="-122"/>
                <a:cs typeface="JetBrains Mono" pitchFamily="34" charset="-120"/>
              </a:rPr>
              <a:t>WEB PROGRAMMING &amp; APPLICATIONS </a:t>
            </a:r>
            <a:pPr algn="l" indent="0" marL="0">
              <a:buNone/>
            </a:pPr>
            <a:r>
              <a:rPr lang="en-US" sz="1800" spc="288" kern="0" dirty="0">
                <a:solidFill>
                  <a:srgbClr val="6E7B99"/>
                </a:solidFill>
                <a:latin typeface="JetBrains Mono" pitchFamily="34" charset="0"/>
                <a:ea typeface="JetBrains Mono" pitchFamily="34" charset="-122"/>
                <a:cs typeface="JetBrains Mono" pitchFamily="34" charset="-120"/>
              </a:rPr>
              <a:t>· </a:t>
            </a:r>
            <a:pPr algn="l" indent="0" marL="0">
              <a:buNone/>
            </a:pPr>
            <a:r>
              <a:rPr lang="en-US" sz="1800" spc="288" kern="0" dirty="0">
                <a:solidFill>
                  <a:srgbClr val="818CF8"/>
                </a:solidFill>
                <a:latin typeface="JetBrains Mono" pitchFamily="34" charset="0"/>
                <a:ea typeface="JetBrains Mono" pitchFamily="34" charset="-122"/>
                <a:cs typeface="JetBrains Mono" pitchFamily="34" charset="-120"/>
              </a:rPr>
              <a:t>MIDTERM 2026</a:t>
            </a:r>
            <a:endParaRPr lang="en-US" sz="1800" dirty="0"/>
          </a:p>
        </p:txBody>
      </p:sp>
      <p:sp>
        <p:nvSpPr>
          <p:cNvPr id="3" name="Text 1"/>
          <p:cNvSpPr/>
          <p:nvPr/>
        </p:nvSpPr>
        <p:spPr>
          <a:xfrm>
            <a:off x="1066800" y="1743075"/>
            <a:ext cx="16639032" cy="2781300"/>
          </a:xfrm>
          <a:prstGeom prst="rect">
            <a:avLst/>
          </a:prstGeom>
          <a:noFill/>
          <a:ln/>
        </p:spPr>
        <p:txBody>
          <a:bodyPr wrap="square" lIns="25400" tIns="25400" rIns="25400" bIns="25400" rtlCol="0" anchor="t">
            <a:normAutofit/>
          </a:bodyPr>
          <a:lstStyle/>
          <a:p>
            <a:pPr algn="l" indent="0" marL="0">
              <a:lnSpc>
                <a:spcPct val="100000"/>
              </a:lnSpc>
              <a:buNone/>
            </a:pPr>
            <a:r>
              <a:rPr lang="en-US" sz="7200" b="1" spc="-180" kern="0" dirty="0">
                <a:solidFill>
                  <a:srgbClr val="E6EDF7"/>
                </a:solidFill>
                <a:latin typeface="Space Grotesk" pitchFamily="34" charset="0"/>
                <a:ea typeface="Space Grotesk" pitchFamily="34" charset="-122"/>
                <a:cs typeface="Space Grotesk" pitchFamily="34" charset="-120"/>
              </a:rPr>
              <a:t>Advanced </a:t>
            </a:r>
            <a:pPr algn="l" indent="0" marL="0">
              <a:lnSpc>
                <a:spcPct val="100000"/>
              </a:lnSpc>
              <a:buNone/>
            </a:pPr>
            <a:r>
              <a:rPr lang="en-US" sz="7200" b="1" spc="-180" kern="0" dirty="0">
                <a:solidFill>
                  <a:srgbClr val="818CF8"/>
                </a:solidFill>
                <a:latin typeface="Space Grotesk" pitchFamily="34" charset="0"/>
                <a:ea typeface="Space Grotesk" pitchFamily="34" charset="-122"/>
                <a:cs typeface="Space Grotesk" pitchFamily="34" charset="-120"/>
              </a:rPr>
              <a:t>Identity &amp; Access </a:t>
            </a:r>
            <a:pPr algn="l" indent="0" marL="0">
              <a:lnSpc>
                <a:spcPct val="100000"/>
              </a:lnSpc>
              <a:buNone/>
            </a:pPr>
            <a:r>
              <a:rPr lang="en-US" sz="7200" b="1" spc="-180" kern="0" dirty="0">
                <a:solidFill>
                  <a:srgbClr val="E6EDF7"/>
                </a:solidFill>
                <a:latin typeface="Space Grotesk" pitchFamily="34" charset="0"/>
                <a:ea typeface="Space Grotesk" pitchFamily="34" charset="-122"/>
                <a:cs typeface="Space Grotesk" pitchFamily="34" charset="-120"/>
              </a:rPr>
              <a:t>Management.</a:t>
            </a:r>
            <a:endParaRPr lang="en-US" sz="7200" dirty="0"/>
          </a:p>
        </p:txBody>
      </p:sp>
      <p:sp>
        <p:nvSpPr>
          <p:cNvPr id="4" name="Text 2"/>
          <p:cNvSpPr/>
          <p:nvPr/>
        </p:nvSpPr>
        <p:spPr>
          <a:xfrm>
            <a:off x="1066800" y="5248275"/>
            <a:ext cx="3260388" cy="3333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6E7B99"/>
                </a:solidFill>
                <a:latin typeface="JetBrains Mono" pitchFamily="34" charset="0"/>
                <a:ea typeface="JetBrains Mono" pitchFamily="34" charset="-122"/>
                <a:cs typeface="JetBrains Mono" pitchFamily="34" charset="-120"/>
              </a:rPr>
              <a:t>PROJECT</a:t>
            </a:r>
            <a:endParaRPr lang="en-US" sz="1800" dirty="0"/>
          </a:p>
        </p:txBody>
      </p:sp>
      <p:sp>
        <p:nvSpPr>
          <p:cNvPr id="5" name="Text 3"/>
          <p:cNvSpPr/>
          <p:nvPr/>
        </p:nvSpPr>
        <p:spPr>
          <a:xfrm>
            <a:off x="1066800" y="5619750"/>
            <a:ext cx="3260388" cy="409575"/>
          </a:xfrm>
          <a:prstGeom prst="rect">
            <a:avLst/>
          </a:prstGeom>
          <a:noFill/>
          <a:ln/>
        </p:spPr>
        <p:txBody>
          <a:bodyPr wrap="square" lIns="25400" tIns="25400" rIns="25400" bIns="25400" rtlCol="0" anchor="t">
            <a:normAutofit/>
          </a:bodyPr>
          <a:lstStyle/>
          <a:p>
            <a:pPr algn="l" indent="0" marL="0">
              <a:buNone/>
            </a:pPr>
            <a:r>
              <a:rPr lang="en-US" sz="2250" dirty="0">
                <a:solidFill>
                  <a:srgbClr val="E6EDF7"/>
                </a:solidFill>
                <a:latin typeface="Space Grotesk" pitchFamily="34" charset="0"/>
                <a:ea typeface="Space Grotesk" pitchFamily="34" charset="-122"/>
                <a:cs typeface="Space Grotesk" pitchFamily="34" charset="-120"/>
              </a:rPr>
              <a:t>Full-stack auth system</a:t>
            </a:r>
            <a:endParaRPr lang="en-US" sz="2250" dirty="0"/>
          </a:p>
        </p:txBody>
      </p:sp>
      <p:sp>
        <p:nvSpPr>
          <p:cNvPr id="6" name="Text 4"/>
          <p:cNvSpPr/>
          <p:nvPr/>
        </p:nvSpPr>
        <p:spPr>
          <a:xfrm>
            <a:off x="4918025" y="5248275"/>
            <a:ext cx="3354817" cy="3333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6E7B99"/>
                </a:solidFill>
                <a:latin typeface="JetBrains Mono" pitchFamily="34" charset="0"/>
                <a:ea typeface="JetBrains Mono" pitchFamily="34" charset="-122"/>
                <a:cs typeface="JetBrains Mono" pitchFamily="34" charset="-120"/>
              </a:rPr>
              <a:t>STACK</a:t>
            </a:r>
            <a:endParaRPr lang="en-US" sz="1800" dirty="0"/>
          </a:p>
        </p:txBody>
      </p:sp>
      <p:sp>
        <p:nvSpPr>
          <p:cNvPr id="7" name="Text 5"/>
          <p:cNvSpPr/>
          <p:nvPr/>
        </p:nvSpPr>
        <p:spPr>
          <a:xfrm>
            <a:off x="4918025" y="5619750"/>
            <a:ext cx="3354817" cy="409575"/>
          </a:xfrm>
          <a:prstGeom prst="rect">
            <a:avLst/>
          </a:prstGeom>
          <a:noFill/>
          <a:ln/>
        </p:spPr>
        <p:txBody>
          <a:bodyPr wrap="square" lIns="25400" tIns="25400" rIns="25400" bIns="25400" rtlCol="0" anchor="t">
            <a:normAutofit/>
          </a:bodyPr>
          <a:lstStyle/>
          <a:p>
            <a:pPr algn="l" indent="0" marL="0">
              <a:buNone/>
            </a:pPr>
            <a:r>
              <a:rPr lang="en-US" sz="2250" dirty="0">
                <a:solidFill>
                  <a:srgbClr val="E6EDF7"/>
                </a:solidFill>
                <a:latin typeface="Space Grotesk" pitchFamily="34" charset="0"/>
                <a:ea typeface="Space Grotesk" pitchFamily="34" charset="-122"/>
                <a:cs typeface="Space Grotesk" pitchFamily="34" charset="-120"/>
              </a:rPr>
              <a:t>React · Node · MongoDB</a:t>
            </a:r>
            <a:endParaRPr lang="en-US" sz="2250" dirty="0"/>
          </a:p>
        </p:txBody>
      </p:sp>
      <p:sp>
        <p:nvSpPr>
          <p:cNvPr id="8" name="Text 6"/>
          <p:cNvSpPr/>
          <p:nvPr/>
        </p:nvSpPr>
        <p:spPr>
          <a:xfrm>
            <a:off x="8860929" y="5248275"/>
            <a:ext cx="3043172" cy="3333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6E7B99"/>
                </a:solidFill>
                <a:latin typeface="JetBrains Mono" pitchFamily="34" charset="0"/>
                <a:ea typeface="JetBrains Mono" pitchFamily="34" charset="-122"/>
                <a:cs typeface="JetBrains Mono" pitchFamily="34" charset="-120"/>
              </a:rPr>
              <a:t>TEAM</a:t>
            </a:r>
            <a:endParaRPr lang="en-US" sz="1800" dirty="0"/>
          </a:p>
        </p:txBody>
      </p:sp>
      <p:sp>
        <p:nvSpPr>
          <p:cNvPr id="9" name="Text 7"/>
          <p:cNvSpPr/>
          <p:nvPr/>
        </p:nvSpPr>
        <p:spPr>
          <a:xfrm>
            <a:off x="8860929" y="5619750"/>
            <a:ext cx="3043172" cy="409575"/>
          </a:xfrm>
          <a:prstGeom prst="rect">
            <a:avLst/>
          </a:prstGeom>
          <a:noFill/>
          <a:ln/>
        </p:spPr>
        <p:txBody>
          <a:bodyPr wrap="square" lIns="25400" tIns="25400" rIns="25400" bIns="25400" rtlCol="0" anchor="t">
            <a:normAutofit/>
          </a:bodyPr>
          <a:lstStyle/>
          <a:p>
            <a:pPr algn="l" indent="0" marL="0">
              <a:buNone/>
            </a:pPr>
            <a:r>
              <a:rPr lang="en-US" sz="2250" dirty="0">
                <a:solidFill>
                  <a:srgbClr val="E6EDF7"/>
                </a:solidFill>
                <a:latin typeface="Space Grotesk" pitchFamily="34" charset="0"/>
                <a:ea typeface="Space Grotesk" pitchFamily="34" charset="-122"/>
                <a:cs typeface="Space Grotesk" pitchFamily="34" charset="-120"/>
              </a:rPr>
              <a:t>Member A · Member B</a:t>
            </a:r>
            <a:endParaRPr lang="en-US" sz="2250" dirty="0"/>
          </a:p>
        </p:txBody>
      </p:sp>
      <p:sp>
        <p:nvSpPr>
          <p:cNvPr id="10" name="Shape 8"/>
          <p:cNvSpPr/>
          <p:nvPr/>
        </p:nvSpPr>
        <p:spPr>
          <a:xfrm>
            <a:off x="1066800" y="9553575"/>
            <a:ext cx="675977" cy="390525"/>
          </a:xfrm>
          <a:prstGeom prst="roundRect">
            <a:avLst>
              <a:gd name="adj" fmla="val 50000"/>
            </a:avLst>
          </a:prstGeom>
          <a:ln w="9525">
            <a:solidFill>
              <a:srgbClr val="94A3B8">
                <a:alpha val="18000"/>
              </a:srgbClr>
            </a:solidFill>
            <a:prstDash val="solid"/>
          </a:ln>
        </p:spPr>
      </p:sp>
      <p:sp>
        <p:nvSpPr>
          <p:cNvPr id="11" name="Text 9"/>
          <p:cNvSpPr/>
          <p:nvPr/>
        </p:nvSpPr>
        <p:spPr>
          <a:xfrm>
            <a:off x="1171575" y="9601200"/>
            <a:ext cx="542627"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AAB7D2"/>
                </a:solidFill>
                <a:latin typeface="JetBrains Mono" pitchFamily="34" charset="0"/>
                <a:ea typeface="JetBrains Mono" pitchFamily="34" charset="-122"/>
                <a:cs typeface="JetBrains Mono" pitchFamily="34" charset="-120"/>
              </a:rPr>
              <a:t>IAM</a:t>
            </a:r>
            <a:endParaRPr lang="en-US" sz="1800" dirty="0"/>
          </a:p>
        </p:txBody>
      </p:sp>
      <p:sp>
        <p:nvSpPr>
          <p:cNvPr id="12" name="Text 10"/>
          <p:cNvSpPr/>
          <p:nvPr/>
        </p:nvSpPr>
        <p:spPr>
          <a:xfrm>
            <a:off x="1876127" y="9601200"/>
            <a:ext cx="3042252"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E7B99"/>
                </a:solidFill>
                <a:latin typeface="JetBrains Mono" pitchFamily="34" charset="0"/>
                <a:ea typeface="JetBrains Mono" pitchFamily="34" charset="-122"/>
                <a:cs typeface="JetBrains Mono" pitchFamily="34" charset="-120"/>
              </a:rPr>
              <a:t>github.com/team/iam</a:t>
            </a:r>
            <a:endParaRPr lang="en-US" sz="1800" dirty="0"/>
          </a:p>
        </p:txBody>
      </p:sp>
      <p:sp>
        <p:nvSpPr>
          <p:cNvPr id="13" name="Text 11"/>
          <p:cNvSpPr/>
          <p:nvPr/>
        </p:nvSpPr>
        <p:spPr>
          <a:xfrm>
            <a:off x="16132969" y="960120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E7B99"/>
                </a:solidFill>
                <a:latin typeface="JetBrains Mono" pitchFamily="34" charset="0"/>
                <a:ea typeface="JetBrains Mono" pitchFamily="34" charset="-122"/>
                <a:cs typeface="JetBrains Mono" pitchFamily="34" charset="-120"/>
              </a:rPr>
              <a:t>01 / 11</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1066800" y="914400"/>
            <a:ext cx="16639032" cy="3333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818CF8"/>
                </a:solidFill>
                <a:latin typeface="JetBrains Mono" pitchFamily="34" charset="0"/>
                <a:ea typeface="JetBrains Mono" pitchFamily="34" charset="-122"/>
                <a:cs typeface="JetBrains Mono" pitchFamily="34" charset="-120"/>
              </a:rPr>
              <a:t>02 </a:t>
            </a:r>
            <a:pPr algn="l" indent="0" marL="0">
              <a:buNone/>
            </a:pPr>
            <a:r>
              <a:rPr lang="en-US" sz="1800" spc="288" kern="0" dirty="0">
                <a:solidFill>
                  <a:srgbClr val="6E7B99"/>
                </a:solidFill>
                <a:latin typeface="JetBrains Mono" pitchFamily="34" charset="0"/>
                <a:ea typeface="JetBrains Mono" pitchFamily="34" charset="-122"/>
                <a:cs typeface="JetBrains Mono" pitchFamily="34" charset="-120"/>
              </a:rPr>
              <a:t>· </a:t>
            </a:r>
            <a:pPr algn="l" indent="0" marL="0">
              <a:buNone/>
            </a:pPr>
            <a:r>
              <a:rPr lang="en-US" sz="1800" spc="288" kern="0" dirty="0">
                <a:solidFill>
                  <a:srgbClr val="818CF8"/>
                </a:solidFill>
                <a:latin typeface="JetBrains Mono" pitchFamily="34" charset="0"/>
                <a:ea typeface="JetBrains Mono" pitchFamily="34" charset="-122"/>
                <a:cs typeface="JetBrains Mono" pitchFamily="34" charset="-120"/>
              </a:rPr>
              <a:t>AGENDA</a:t>
            </a:r>
            <a:endParaRPr lang="en-US" sz="1800" dirty="0"/>
          </a:p>
        </p:txBody>
      </p:sp>
      <p:sp>
        <p:nvSpPr>
          <p:cNvPr id="3" name="Text 1"/>
          <p:cNvSpPr/>
          <p:nvPr/>
        </p:nvSpPr>
        <p:spPr>
          <a:xfrm>
            <a:off x="1066800" y="1400175"/>
            <a:ext cx="14716125" cy="678061"/>
          </a:xfrm>
          <a:prstGeom prst="rect">
            <a:avLst/>
          </a:prstGeom>
          <a:noFill/>
          <a:ln/>
        </p:spPr>
        <p:txBody>
          <a:bodyPr wrap="square" lIns="25400" tIns="25400" rIns="25400" bIns="25400" rtlCol="0" anchor="t">
            <a:normAutofit/>
          </a:bodyPr>
          <a:lstStyle/>
          <a:p>
            <a:pPr algn="l" indent="0" marL="0">
              <a:lnSpc>
                <a:spcPct val="105000"/>
              </a:lnSpc>
              <a:buNone/>
            </a:pPr>
            <a:r>
              <a:rPr lang="en-US" sz="4800" b="1" spc="-96" kern="0" dirty="0">
                <a:solidFill>
                  <a:srgbClr val="E6EDF7"/>
                </a:solidFill>
                <a:latin typeface="Space Grotesk" pitchFamily="34" charset="0"/>
                <a:ea typeface="Space Grotesk" pitchFamily="34" charset="-122"/>
                <a:cs typeface="Space Grotesk" pitchFamily="34" charset="-120"/>
              </a:rPr>
              <a:t>How the next 15 minutes go.</a:t>
            </a:r>
            <a:endParaRPr lang="en-US" sz="4800" dirty="0"/>
          </a:p>
        </p:txBody>
      </p:sp>
      <p:sp>
        <p:nvSpPr>
          <p:cNvPr id="4" name="Shape 2"/>
          <p:cNvSpPr/>
          <p:nvPr/>
        </p:nvSpPr>
        <p:spPr>
          <a:xfrm>
            <a:off x="1066800" y="2802136"/>
            <a:ext cx="5181600" cy="3352800"/>
          </a:xfrm>
          <a:prstGeom prst="roundRect">
            <a:avLst>
              <a:gd name="adj" fmla="val 5114"/>
            </a:avLst>
          </a:prstGeom>
          <a:solidFill>
            <a:srgbClr val="131F38"/>
          </a:solidFill>
          <a:ln w="9525">
            <a:solidFill>
              <a:srgbClr val="818CF8">
                <a:alpha val="35000"/>
              </a:srgbClr>
            </a:solidFill>
            <a:prstDash val="solid"/>
          </a:ln>
        </p:spPr>
      </p:sp>
      <p:sp>
        <p:nvSpPr>
          <p:cNvPr id="5" name="Text 3"/>
          <p:cNvSpPr/>
          <p:nvPr/>
        </p:nvSpPr>
        <p:spPr>
          <a:xfrm>
            <a:off x="1381125" y="3116461"/>
            <a:ext cx="4689539" cy="3333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818CF8"/>
                </a:solidFill>
                <a:latin typeface="JetBrains Mono" pitchFamily="34" charset="0"/>
                <a:ea typeface="JetBrains Mono" pitchFamily="34" charset="-122"/>
                <a:cs typeface="JetBrains Mono" pitchFamily="34" charset="-120"/>
              </a:rPr>
              <a:t>PART 01</a:t>
            </a:r>
            <a:endParaRPr lang="en-US" sz="1800" dirty="0"/>
          </a:p>
        </p:txBody>
      </p:sp>
      <p:sp>
        <p:nvSpPr>
          <p:cNvPr id="6" name="Text 4"/>
          <p:cNvSpPr/>
          <p:nvPr/>
        </p:nvSpPr>
        <p:spPr>
          <a:xfrm>
            <a:off x="1381125" y="3583186"/>
            <a:ext cx="4689539" cy="523875"/>
          </a:xfrm>
          <a:prstGeom prst="rect">
            <a:avLst/>
          </a:prstGeom>
          <a:noFill/>
          <a:ln/>
        </p:spPr>
        <p:txBody>
          <a:bodyPr wrap="square" lIns="25400" tIns="25400" rIns="25400" bIns="25400" rtlCol="0" anchor="t">
            <a:normAutofit/>
          </a:bodyPr>
          <a:lstStyle/>
          <a:p>
            <a:pPr algn="l" indent="0" marL="0">
              <a:buNone/>
            </a:pPr>
            <a:r>
              <a:rPr lang="en-US" sz="3000" b="1" spc="-30" kern="0" dirty="0">
                <a:solidFill>
                  <a:srgbClr val="E6EDF7"/>
                </a:solidFill>
                <a:latin typeface="Space Grotesk" pitchFamily="34" charset="0"/>
                <a:ea typeface="Space Grotesk" pitchFamily="34" charset="-122"/>
                <a:cs typeface="Space Grotesk" pitchFamily="34" charset="-120"/>
              </a:rPr>
              <a:t>Theory</a:t>
            </a:r>
            <a:endParaRPr lang="en-US" sz="3000" dirty="0"/>
          </a:p>
        </p:txBody>
      </p:sp>
      <p:sp>
        <p:nvSpPr>
          <p:cNvPr id="7" name="Text 5"/>
          <p:cNvSpPr/>
          <p:nvPr/>
        </p:nvSpPr>
        <p:spPr>
          <a:xfrm>
            <a:off x="1381125" y="4183261"/>
            <a:ext cx="4689539" cy="1695450"/>
          </a:xfrm>
          <a:prstGeom prst="rect">
            <a:avLst/>
          </a:prstGeom>
          <a:noFill/>
          <a:ln/>
        </p:spPr>
        <p:txBody>
          <a:bodyPr wrap="square" lIns="25400" tIns="25400" rIns="25400" bIns="25400" rtlCol="0" anchor="t">
            <a:normAutofit/>
          </a:bodyPr>
          <a:lstStyle/>
          <a:p>
            <a:pPr algn="l" indent="0" marL="0">
              <a:lnSpc>
                <a:spcPct val="145000"/>
              </a:lnSpc>
              <a:buNone/>
            </a:pPr>
            <a:r>
              <a:rPr lang="en-US" sz="2250" dirty="0">
                <a:solidFill>
                  <a:srgbClr val="AAB7D2"/>
                </a:solidFill>
                <a:latin typeface="Space Grotesk" pitchFamily="34" charset="0"/>
                <a:ea typeface="Space Grotesk" pitchFamily="34" charset="-122"/>
                <a:cs typeface="Space Grotesk" pitchFamily="34" charset="-120"/>
              </a:rPr>
              <a:t>The four pillars of modern authentication — OAuth, JWT, WebAuthn, RBAC — and why each one is in the project.</a:t>
            </a:r>
            <a:endParaRPr lang="en-US" sz="2250" dirty="0"/>
          </a:p>
        </p:txBody>
      </p:sp>
      <p:sp>
        <p:nvSpPr>
          <p:cNvPr id="8" name="Shape 6"/>
          <p:cNvSpPr/>
          <p:nvPr/>
        </p:nvSpPr>
        <p:spPr>
          <a:xfrm>
            <a:off x="6553200" y="2802136"/>
            <a:ext cx="5181600" cy="3352800"/>
          </a:xfrm>
          <a:prstGeom prst="roundRect">
            <a:avLst>
              <a:gd name="adj" fmla="val 5114"/>
            </a:avLst>
          </a:prstGeom>
          <a:solidFill>
            <a:srgbClr val="131F38"/>
          </a:solidFill>
          <a:ln w="9525">
            <a:solidFill>
              <a:srgbClr val="94A3B8">
                <a:alpha val="18000"/>
              </a:srgbClr>
            </a:solidFill>
            <a:prstDash val="solid"/>
          </a:ln>
        </p:spPr>
      </p:sp>
      <p:sp>
        <p:nvSpPr>
          <p:cNvPr id="9" name="Text 7"/>
          <p:cNvSpPr/>
          <p:nvPr/>
        </p:nvSpPr>
        <p:spPr>
          <a:xfrm>
            <a:off x="6867525" y="3116461"/>
            <a:ext cx="4689539" cy="3333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818CF8"/>
                </a:solidFill>
                <a:latin typeface="JetBrains Mono" pitchFamily="34" charset="0"/>
                <a:ea typeface="JetBrains Mono" pitchFamily="34" charset="-122"/>
                <a:cs typeface="JetBrains Mono" pitchFamily="34" charset="-120"/>
              </a:rPr>
              <a:t>PART 02</a:t>
            </a:r>
            <a:endParaRPr lang="en-US" sz="1800" dirty="0"/>
          </a:p>
        </p:txBody>
      </p:sp>
      <p:sp>
        <p:nvSpPr>
          <p:cNvPr id="10" name="Text 8"/>
          <p:cNvSpPr/>
          <p:nvPr/>
        </p:nvSpPr>
        <p:spPr>
          <a:xfrm>
            <a:off x="6867525" y="3583186"/>
            <a:ext cx="4689539" cy="523875"/>
          </a:xfrm>
          <a:prstGeom prst="rect">
            <a:avLst/>
          </a:prstGeom>
          <a:noFill/>
          <a:ln/>
        </p:spPr>
        <p:txBody>
          <a:bodyPr wrap="square" lIns="25400" tIns="25400" rIns="25400" bIns="25400" rtlCol="0" anchor="t">
            <a:normAutofit/>
          </a:bodyPr>
          <a:lstStyle/>
          <a:p>
            <a:pPr algn="l" indent="0" marL="0">
              <a:buNone/>
            </a:pPr>
            <a:r>
              <a:rPr lang="en-US" sz="3000" b="1" spc="-30" kern="0" dirty="0">
                <a:solidFill>
                  <a:srgbClr val="E6EDF7"/>
                </a:solidFill>
                <a:latin typeface="Space Grotesk" pitchFamily="34" charset="0"/>
                <a:ea typeface="Space Grotesk" pitchFamily="34" charset="-122"/>
                <a:cs typeface="Space Grotesk" pitchFamily="34" charset="-120"/>
              </a:rPr>
              <a:t>Architecture</a:t>
            </a:r>
            <a:endParaRPr lang="en-US" sz="3000" dirty="0"/>
          </a:p>
        </p:txBody>
      </p:sp>
      <p:sp>
        <p:nvSpPr>
          <p:cNvPr id="11" name="Text 9"/>
          <p:cNvSpPr/>
          <p:nvPr/>
        </p:nvSpPr>
        <p:spPr>
          <a:xfrm>
            <a:off x="6867525" y="4183261"/>
            <a:ext cx="4689539" cy="1695450"/>
          </a:xfrm>
          <a:prstGeom prst="rect">
            <a:avLst/>
          </a:prstGeom>
          <a:noFill/>
          <a:ln/>
        </p:spPr>
        <p:txBody>
          <a:bodyPr wrap="square" lIns="25400" tIns="25400" rIns="25400" bIns="25400" rtlCol="0" anchor="t">
            <a:normAutofit/>
          </a:bodyPr>
          <a:lstStyle/>
          <a:p>
            <a:pPr algn="l" indent="0" marL="0">
              <a:lnSpc>
                <a:spcPct val="145000"/>
              </a:lnSpc>
              <a:buNone/>
            </a:pPr>
            <a:r>
              <a:rPr lang="en-US" sz="2250" dirty="0">
                <a:solidFill>
                  <a:srgbClr val="AAB7D2"/>
                </a:solidFill>
                <a:latin typeface="Space Grotesk" pitchFamily="34" charset="0"/>
                <a:ea typeface="Space Grotesk" pitchFamily="34" charset="-122"/>
                <a:cs typeface="Space Grotesk" pitchFamily="34" charset="-120"/>
              </a:rPr>
              <a:t>A layered backend in Node — routes, middleware, services, model — and the tech stack that holds it together.</a:t>
            </a:r>
            <a:endParaRPr lang="en-US" sz="2250" dirty="0"/>
          </a:p>
        </p:txBody>
      </p:sp>
      <p:sp>
        <p:nvSpPr>
          <p:cNvPr id="12" name="Shape 10"/>
          <p:cNvSpPr/>
          <p:nvPr/>
        </p:nvSpPr>
        <p:spPr>
          <a:xfrm>
            <a:off x="12039600" y="2802136"/>
            <a:ext cx="5181600" cy="3352800"/>
          </a:xfrm>
          <a:prstGeom prst="roundRect">
            <a:avLst>
              <a:gd name="adj" fmla="val 5114"/>
            </a:avLst>
          </a:prstGeom>
          <a:solidFill>
            <a:srgbClr val="131F38"/>
          </a:solidFill>
          <a:ln w="9525">
            <a:solidFill>
              <a:srgbClr val="94A3B8">
                <a:alpha val="18000"/>
              </a:srgbClr>
            </a:solidFill>
            <a:prstDash val="solid"/>
          </a:ln>
        </p:spPr>
      </p:sp>
      <p:sp>
        <p:nvSpPr>
          <p:cNvPr id="13" name="Text 11"/>
          <p:cNvSpPr/>
          <p:nvPr/>
        </p:nvSpPr>
        <p:spPr>
          <a:xfrm>
            <a:off x="12353925" y="3116461"/>
            <a:ext cx="4689539" cy="3333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818CF8"/>
                </a:solidFill>
                <a:latin typeface="JetBrains Mono" pitchFamily="34" charset="0"/>
                <a:ea typeface="JetBrains Mono" pitchFamily="34" charset="-122"/>
                <a:cs typeface="JetBrains Mono" pitchFamily="34" charset="-120"/>
              </a:rPr>
              <a:t>PART 03</a:t>
            </a:r>
            <a:endParaRPr lang="en-US" sz="1800" dirty="0"/>
          </a:p>
        </p:txBody>
      </p:sp>
      <p:sp>
        <p:nvSpPr>
          <p:cNvPr id="14" name="Text 12"/>
          <p:cNvSpPr/>
          <p:nvPr/>
        </p:nvSpPr>
        <p:spPr>
          <a:xfrm>
            <a:off x="12353925" y="3583186"/>
            <a:ext cx="4689539" cy="523875"/>
          </a:xfrm>
          <a:prstGeom prst="rect">
            <a:avLst/>
          </a:prstGeom>
          <a:noFill/>
          <a:ln/>
        </p:spPr>
        <p:txBody>
          <a:bodyPr wrap="square" lIns="25400" tIns="25400" rIns="25400" bIns="25400" rtlCol="0" anchor="t">
            <a:normAutofit/>
          </a:bodyPr>
          <a:lstStyle/>
          <a:p>
            <a:pPr algn="l" indent="0" marL="0">
              <a:buNone/>
            </a:pPr>
            <a:r>
              <a:rPr lang="en-US" sz="3000" b="1" spc="-30" kern="0" dirty="0">
                <a:solidFill>
                  <a:srgbClr val="E6EDF7"/>
                </a:solidFill>
                <a:latin typeface="Space Grotesk" pitchFamily="34" charset="0"/>
                <a:ea typeface="Space Grotesk" pitchFamily="34" charset="-122"/>
                <a:cs typeface="Space Grotesk" pitchFamily="34" charset="-120"/>
              </a:rPr>
              <a:t>Live Demo</a:t>
            </a:r>
            <a:endParaRPr lang="en-US" sz="3000" dirty="0"/>
          </a:p>
        </p:txBody>
      </p:sp>
      <p:sp>
        <p:nvSpPr>
          <p:cNvPr id="15" name="Text 13"/>
          <p:cNvSpPr/>
          <p:nvPr/>
        </p:nvSpPr>
        <p:spPr>
          <a:xfrm>
            <a:off x="12353925" y="4183261"/>
            <a:ext cx="4689539" cy="1695450"/>
          </a:xfrm>
          <a:prstGeom prst="rect">
            <a:avLst/>
          </a:prstGeom>
          <a:noFill/>
          <a:ln/>
        </p:spPr>
        <p:txBody>
          <a:bodyPr wrap="square" lIns="25400" tIns="25400" rIns="25400" bIns="25400" rtlCol="0" anchor="t">
            <a:normAutofit/>
          </a:bodyPr>
          <a:lstStyle/>
          <a:p>
            <a:pPr algn="l" indent="0" marL="0">
              <a:lnSpc>
                <a:spcPct val="145000"/>
              </a:lnSpc>
              <a:buNone/>
            </a:pPr>
            <a:r>
              <a:rPr lang="en-US" sz="2250" dirty="0">
                <a:solidFill>
                  <a:srgbClr val="AAB7D2"/>
                </a:solidFill>
                <a:latin typeface="Space Grotesk" pitchFamily="34" charset="0"/>
                <a:ea typeface="Space Grotesk" pitchFamily="34" charset="-122"/>
                <a:cs typeface="Space Grotesk" pitchFamily="34" charset="-120"/>
              </a:rPr>
              <a:t>Register, log in, inspect a JWT, enable 2FA, sign in with Google, register a passkey, hit an admin route.</a:t>
            </a:r>
            <a:endParaRPr lang="en-US" sz="2250" dirty="0"/>
          </a:p>
        </p:txBody>
      </p:sp>
      <p:sp>
        <p:nvSpPr>
          <p:cNvPr id="16" name="Shape 14"/>
          <p:cNvSpPr/>
          <p:nvPr/>
        </p:nvSpPr>
        <p:spPr>
          <a:xfrm>
            <a:off x="1066800" y="9553575"/>
            <a:ext cx="675977" cy="390525"/>
          </a:xfrm>
          <a:prstGeom prst="roundRect">
            <a:avLst>
              <a:gd name="adj" fmla="val 50000"/>
            </a:avLst>
          </a:prstGeom>
          <a:ln w="9525">
            <a:solidFill>
              <a:srgbClr val="94A3B8">
                <a:alpha val="18000"/>
              </a:srgbClr>
            </a:solidFill>
            <a:prstDash val="solid"/>
          </a:ln>
        </p:spPr>
      </p:sp>
      <p:sp>
        <p:nvSpPr>
          <p:cNvPr id="17" name="Text 15"/>
          <p:cNvSpPr/>
          <p:nvPr/>
        </p:nvSpPr>
        <p:spPr>
          <a:xfrm>
            <a:off x="1171575" y="9601200"/>
            <a:ext cx="542627"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AAB7D2"/>
                </a:solidFill>
                <a:latin typeface="JetBrains Mono" pitchFamily="34" charset="0"/>
                <a:ea typeface="JetBrains Mono" pitchFamily="34" charset="-122"/>
                <a:cs typeface="JetBrains Mono" pitchFamily="34" charset="-120"/>
              </a:rPr>
              <a:t>IAM</a:t>
            </a:r>
            <a:endParaRPr lang="en-US" sz="1800" dirty="0"/>
          </a:p>
        </p:txBody>
      </p:sp>
      <p:sp>
        <p:nvSpPr>
          <p:cNvPr id="18" name="Text 16"/>
          <p:cNvSpPr/>
          <p:nvPr/>
        </p:nvSpPr>
        <p:spPr>
          <a:xfrm>
            <a:off x="1876127" y="9601200"/>
            <a:ext cx="1008906"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E7B99"/>
                </a:solidFill>
                <a:latin typeface="JetBrains Mono" pitchFamily="34" charset="0"/>
                <a:ea typeface="JetBrains Mono" pitchFamily="34" charset="-122"/>
                <a:cs typeface="JetBrains Mono" pitchFamily="34" charset="-120"/>
              </a:rPr>
              <a:t>Agenda</a:t>
            </a:r>
            <a:endParaRPr lang="en-US" sz="1800" dirty="0"/>
          </a:p>
        </p:txBody>
      </p:sp>
      <p:sp>
        <p:nvSpPr>
          <p:cNvPr id="19" name="Text 17"/>
          <p:cNvSpPr/>
          <p:nvPr/>
        </p:nvSpPr>
        <p:spPr>
          <a:xfrm>
            <a:off x="16132969" y="960120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E7B99"/>
                </a:solidFill>
                <a:latin typeface="JetBrains Mono" pitchFamily="34" charset="0"/>
                <a:ea typeface="JetBrains Mono" pitchFamily="34" charset="-122"/>
                <a:cs typeface="JetBrains Mono" pitchFamily="34" charset="-120"/>
              </a:rPr>
              <a:t>02 / 11</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1066800" y="914400"/>
            <a:ext cx="16639032" cy="3333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818CF8"/>
                </a:solidFill>
                <a:latin typeface="JetBrains Mono" pitchFamily="34" charset="0"/>
                <a:ea typeface="JetBrains Mono" pitchFamily="34" charset="-122"/>
                <a:cs typeface="JetBrains Mono" pitchFamily="34" charset="-120"/>
              </a:rPr>
              <a:t>PILLAR 01 </a:t>
            </a:r>
            <a:pPr algn="l" indent="0" marL="0">
              <a:buNone/>
            </a:pPr>
            <a:r>
              <a:rPr lang="en-US" sz="1800" spc="288" kern="0" dirty="0">
                <a:solidFill>
                  <a:srgbClr val="6E7B99"/>
                </a:solidFill>
                <a:latin typeface="JetBrains Mono" pitchFamily="34" charset="0"/>
                <a:ea typeface="JetBrains Mono" pitchFamily="34" charset="-122"/>
                <a:cs typeface="JetBrains Mono" pitchFamily="34" charset="-120"/>
              </a:rPr>
              <a:t>· </a:t>
            </a:r>
            <a:pPr algn="l" indent="0" marL="0">
              <a:buNone/>
            </a:pPr>
            <a:r>
              <a:rPr lang="en-US" sz="1800" spc="288" kern="0" dirty="0">
                <a:solidFill>
                  <a:srgbClr val="818CF8"/>
                </a:solidFill>
                <a:latin typeface="JetBrains Mono" pitchFamily="34" charset="0"/>
                <a:ea typeface="JetBrains Mono" pitchFamily="34" charset="-122"/>
                <a:cs typeface="JetBrains Mono" pitchFamily="34" charset="-120"/>
              </a:rPr>
              <a:t>FEDERATED IDENTITY</a:t>
            </a:r>
            <a:endParaRPr lang="en-US" sz="1800" dirty="0"/>
          </a:p>
        </p:txBody>
      </p:sp>
      <p:sp>
        <p:nvSpPr>
          <p:cNvPr id="3" name="Text 1"/>
          <p:cNvSpPr/>
          <p:nvPr/>
        </p:nvSpPr>
        <p:spPr>
          <a:xfrm>
            <a:off x="1066800" y="1400175"/>
            <a:ext cx="14716125" cy="678061"/>
          </a:xfrm>
          <a:prstGeom prst="rect">
            <a:avLst/>
          </a:prstGeom>
          <a:noFill/>
          <a:ln/>
        </p:spPr>
        <p:txBody>
          <a:bodyPr wrap="square" lIns="25400" tIns="25400" rIns="25400" bIns="25400" rtlCol="0" anchor="t">
            <a:normAutofit/>
          </a:bodyPr>
          <a:lstStyle/>
          <a:p>
            <a:pPr algn="l" indent="0" marL="0">
              <a:lnSpc>
                <a:spcPct val="105000"/>
              </a:lnSpc>
              <a:buNone/>
            </a:pPr>
            <a:r>
              <a:rPr lang="en-US" sz="4800" b="1" spc="-96" kern="0" dirty="0">
                <a:solidFill>
                  <a:srgbClr val="E6EDF7"/>
                </a:solidFill>
                <a:latin typeface="Space Grotesk" pitchFamily="34" charset="0"/>
                <a:ea typeface="Space Grotesk" pitchFamily="34" charset="-122"/>
                <a:cs typeface="Space Grotesk" pitchFamily="34" charset="-120"/>
              </a:rPr>
              <a:t>OAuth 2.0 — sign in with someone else.</a:t>
            </a:r>
            <a:endParaRPr lang="en-US" sz="4800" dirty="0"/>
          </a:p>
        </p:txBody>
      </p:sp>
      <p:sp>
        <p:nvSpPr>
          <p:cNvPr id="4" name="Text 2"/>
          <p:cNvSpPr/>
          <p:nvPr/>
        </p:nvSpPr>
        <p:spPr>
          <a:xfrm>
            <a:off x="1066800" y="2725936"/>
            <a:ext cx="1123950"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216" kern="0" dirty="0">
                <a:solidFill>
                  <a:srgbClr val="818CF8"/>
                </a:solidFill>
                <a:latin typeface="JetBrains Mono" pitchFamily="34" charset="0"/>
                <a:ea typeface="JetBrains Mono" pitchFamily="34" charset="-122"/>
                <a:cs typeface="JetBrains Mono" pitchFamily="34" charset="-120"/>
              </a:rPr>
              <a:t>FLOW</a:t>
            </a:r>
            <a:endParaRPr lang="en-US" sz="1800" dirty="0"/>
          </a:p>
        </p:txBody>
      </p:sp>
      <p:sp>
        <p:nvSpPr>
          <p:cNvPr id="5" name="Text 3"/>
          <p:cNvSpPr/>
          <p:nvPr/>
        </p:nvSpPr>
        <p:spPr>
          <a:xfrm>
            <a:off x="2324100" y="2649736"/>
            <a:ext cx="6828282" cy="395288"/>
          </a:xfrm>
          <a:prstGeom prst="rect">
            <a:avLst/>
          </a:prstGeom>
          <a:noFill/>
          <a:ln/>
        </p:spPr>
        <p:txBody>
          <a:bodyPr wrap="square" lIns="25400" tIns="25400" rIns="25400" bIns="25400" rtlCol="0" anchor="t">
            <a:normAutofit/>
          </a:bodyPr>
          <a:lstStyle/>
          <a:p>
            <a:pPr algn="l" indent="0" marL="0">
              <a:lnSpc>
                <a:spcPct val="125000"/>
              </a:lnSpc>
              <a:buNone/>
            </a:pPr>
            <a:r>
              <a:rPr lang="en-US" sz="2250" b="1" dirty="0">
                <a:solidFill>
                  <a:srgbClr val="E6EDF7"/>
                </a:solidFill>
                <a:latin typeface="Space Grotesk" pitchFamily="34" charset="0"/>
                <a:ea typeface="Space Grotesk" pitchFamily="34" charset="-122"/>
                <a:cs typeface="Space Grotesk" pitchFamily="34" charset="-120"/>
              </a:rPr>
              <a:t>Authorization Code Flow</a:t>
            </a:r>
            <a:endParaRPr lang="en-US" sz="2250" dirty="0"/>
          </a:p>
        </p:txBody>
      </p:sp>
      <p:sp>
        <p:nvSpPr>
          <p:cNvPr id="6" name="Text 4"/>
          <p:cNvSpPr/>
          <p:nvPr/>
        </p:nvSpPr>
        <p:spPr>
          <a:xfrm>
            <a:off x="2324100" y="3064073"/>
            <a:ext cx="6828282"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AAB7D2"/>
                </a:solidFill>
                <a:latin typeface="Space Grotesk" pitchFamily="34" charset="0"/>
                <a:ea typeface="Space Grotesk" pitchFamily="34" charset="-122"/>
                <a:cs typeface="Space Grotesk" pitchFamily="34" charset="-120"/>
              </a:rPr>
              <a:t>The standard server-side OAuth dance.</a:t>
            </a:r>
            <a:endParaRPr lang="en-US" sz="1950" dirty="0"/>
          </a:p>
        </p:txBody>
      </p:sp>
      <p:sp>
        <p:nvSpPr>
          <p:cNvPr id="7" name="Text 5"/>
          <p:cNvSpPr/>
          <p:nvPr/>
        </p:nvSpPr>
        <p:spPr>
          <a:xfrm>
            <a:off x="1066800" y="3715494"/>
            <a:ext cx="1123950"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216" kern="0" dirty="0">
                <a:solidFill>
                  <a:srgbClr val="818CF8"/>
                </a:solidFill>
                <a:latin typeface="JetBrains Mono" pitchFamily="34" charset="0"/>
                <a:ea typeface="JetBrains Mono" pitchFamily="34" charset="-122"/>
                <a:cs typeface="JetBrains Mono" pitchFamily="34" charset="-120"/>
              </a:rPr>
              <a:t>LIB</a:t>
            </a:r>
            <a:endParaRPr lang="en-US" sz="1800" dirty="0"/>
          </a:p>
        </p:txBody>
      </p:sp>
      <p:sp>
        <p:nvSpPr>
          <p:cNvPr id="8" name="Text 6"/>
          <p:cNvSpPr/>
          <p:nvPr/>
        </p:nvSpPr>
        <p:spPr>
          <a:xfrm>
            <a:off x="2324100" y="3639294"/>
            <a:ext cx="6828282" cy="395288"/>
          </a:xfrm>
          <a:prstGeom prst="rect">
            <a:avLst/>
          </a:prstGeom>
          <a:noFill/>
          <a:ln/>
        </p:spPr>
        <p:txBody>
          <a:bodyPr wrap="square" lIns="25400" tIns="25400" rIns="25400" bIns="25400" rtlCol="0" anchor="t">
            <a:normAutofit/>
          </a:bodyPr>
          <a:lstStyle/>
          <a:p>
            <a:pPr algn="l" indent="0" marL="0">
              <a:lnSpc>
                <a:spcPct val="125000"/>
              </a:lnSpc>
              <a:buNone/>
            </a:pPr>
            <a:r>
              <a:rPr lang="en-US" sz="2250" b="1" dirty="0">
                <a:solidFill>
                  <a:srgbClr val="E6EDF7"/>
                </a:solidFill>
                <a:latin typeface="Space Grotesk" pitchFamily="34" charset="0"/>
                <a:ea typeface="Space Grotesk" pitchFamily="34" charset="-122"/>
                <a:cs typeface="Space Grotesk" pitchFamily="34" charset="-120"/>
              </a:rPr>
              <a:t>Passport.js</a:t>
            </a:r>
            <a:endParaRPr lang="en-US" sz="2250" dirty="0"/>
          </a:p>
        </p:txBody>
      </p:sp>
      <p:sp>
        <p:nvSpPr>
          <p:cNvPr id="9" name="Text 7"/>
          <p:cNvSpPr/>
          <p:nvPr/>
        </p:nvSpPr>
        <p:spPr>
          <a:xfrm>
            <a:off x="2324100" y="4053632"/>
            <a:ext cx="6828282"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AAB7D2"/>
                </a:solidFill>
                <a:latin typeface="Space Grotesk" pitchFamily="34" charset="0"/>
                <a:ea typeface="Space Grotesk" pitchFamily="34" charset="-122"/>
                <a:cs typeface="Space Grotesk" pitchFamily="34" charset="-120"/>
              </a:rPr>
              <a:t>Google &amp; GitHub strategies.</a:t>
            </a:r>
            <a:endParaRPr lang="en-US" sz="1950" dirty="0"/>
          </a:p>
        </p:txBody>
      </p:sp>
      <p:sp>
        <p:nvSpPr>
          <p:cNvPr id="10" name="Text 8"/>
          <p:cNvSpPr/>
          <p:nvPr/>
        </p:nvSpPr>
        <p:spPr>
          <a:xfrm>
            <a:off x="1066800" y="4705052"/>
            <a:ext cx="1123950"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216" kern="0" dirty="0">
                <a:solidFill>
                  <a:srgbClr val="818CF8"/>
                </a:solidFill>
                <a:latin typeface="JetBrains Mono" pitchFamily="34" charset="0"/>
                <a:ea typeface="JetBrains Mono" pitchFamily="34" charset="-122"/>
                <a:cs typeface="JetBrains Mono" pitchFamily="34" charset="-120"/>
              </a:rPr>
              <a:t>LINK</a:t>
            </a:r>
            <a:endParaRPr lang="en-US" sz="1800" dirty="0"/>
          </a:p>
        </p:txBody>
      </p:sp>
      <p:sp>
        <p:nvSpPr>
          <p:cNvPr id="11" name="Text 9"/>
          <p:cNvSpPr/>
          <p:nvPr/>
        </p:nvSpPr>
        <p:spPr>
          <a:xfrm>
            <a:off x="2324100" y="4628852"/>
            <a:ext cx="6828282" cy="395288"/>
          </a:xfrm>
          <a:prstGeom prst="rect">
            <a:avLst/>
          </a:prstGeom>
          <a:noFill/>
          <a:ln/>
        </p:spPr>
        <p:txBody>
          <a:bodyPr wrap="square" lIns="25400" tIns="25400" rIns="25400" bIns="25400" rtlCol="0" anchor="t">
            <a:normAutofit/>
          </a:bodyPr>
          <a:lstStyle/>
          <a:p>
            <a:pPr algn="l" indent="0" marL="0">
              <a:lnSpc>
                <a:spcPct val="125000"/>
              </a:lnSpc>
              <a:buNone/>
            </a:pPr>
            <a:r>
              <a:rPr lang="en-US" sz="2250" b="1" dirty="0">
                <a:solidFill>
                  <a:srgbClr val="E6EDF7"/>
                </a:solidFill>
                <a:latin typeface="Space Grotesk" pitchFamily="34" charset="0"/>
                <a:ea typeface="Space Grotesk" pitchFamily="34" charset="-122"/>
                <a:cs typeface="Space Grotesk" pitchFamily="34" charset="-120"/>
              </a:rPr>
              <a:t>Auto-link by email</a:t>
            </a:r>
            <a:endParaRPr lang="en-US" sz="2250" dirty="0"/>
          </a:p>
        </p:txBody>
      </p:sp>
      <p:sp>
        <p:nvSpPr>
          <p:cNvPr id="12" name="Text 10"/>
          <p:cNvSpPr/>
          <p:nvPr/>
        </p:nvSpPr>
        <p:spPr>
          <a:xfrm>
            <a:off x="2324100" y="5043190"/>
            <a:ext cx="6828282"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AAB7D2"/>
                </a:solidFill>
                <a:latin typeface="Space Grotesk" pitchFamily="34" charset="0"/>
                <a:ea typeface="Space Grotesk" pitchFamily="34" charset="-122"/>
                <a:cs typeface="Space Grotesk" pitchFamily="34" charset="-120"/>
              </a:rPr>
              <a:t>One account, multiple providers.</a:t>
            </a:r>
            <a:endParaRPr lang="en-US" sz="1950" dirty="0"/>
          </a:p>
        </p:txBody>
      </p:sp>
      <p:sp>
        <p:nvSpPr>
          <p:cNvPr id="13" name="Text 11"/>
          <p:cNvSpPr/>
          <p:nvPr/>
        </p:nvSpPr>
        <p:spPr>
          <a:xfrm>
            <a:off x="1066800" y="5694611"/>
            <a:ext cx="1123950"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216" kern="0" dirty="0">
                <a:solidFill>
                  <a:srgbClr val="818CF8"/>
                </a:solidFill>
                <a:latin typeface="JetBrains Mono" pitchFamily="34" charset="0"/>
                <a:ea typeface="JetBrains Mono" pitchFamily="34" charset="-122"/>
                <a:cs typeface="JetBrains Mono" pitchFamily="34" charset="-120"/>
              </a:rPr>
              <a:t>STORE</a:t>
            </a:r>
            <a:endParaRPr lang="en-US" sz="1800" dirty="0"/>
          </a:p>
        </p:txBody>
      </p:sp>
      <p:sp>
        <p:nvSpPr>
          <p:cNvPr id="14" name="Shape 12"/>
          <p:cNvSpPr/>
          <p:nvPr/>
        </p:nvSpPr>
        <p:spPr>
          <a:xfrm>
            <a:off x="2324100" y="5637461"/>
            <a:ext cx="1344960" cy="352425"/>
          </a:xfrm>
          <a:prstGeom prst="roundRect">
            <a:avLst>
              <a:gd name="adj" fmla="val 16216"/>
            </a:avLst>
          </a:prstGeom>
          <a:solidFill>
            <a:srgbClr val="818CF8">
              <a:alpha val="10000"/>
            </a:srgbClr>
          </a:solidFill>
          <a:ln w="9525">
            <a:solidFill>
              <a:srgbClr val="818CF8">
                <a:alpha val="35000"/>
              </a:srgbClr>
            </a:solidFill>
            <a:prstDash val="solid"/>
          </a:ln>
        </p:spPr>
      </p:sp>
      <p:sp>
        <p:nvSpPr>
          <p:cNvPr id="15" name="Text 13"/>
          <p:cNvSpPr/>
          <p:nvPr/>
        </p:nvSpPr>
        <p:spPr>
          <a:xfrm>
            <a:off x="2447925" y="5666036"/>
            <a:ext cx="1173510" cy="333375"/>
          </a:xfrm>
          <a:prstGeom prst="rect">
            <a:avLst/>
          </a:prstGeom>
          <a:noFill/>
          <a:ln/>
        </p:spPr>
        <p:txBody>
          <a:bodyPr wrap="square" lIns="25400" tIns="25400" rIns="25400" bIns="25400" rtlCol="0" anchor="t">
            <a:normAutofit/>
          </a:bodyPr>
          <a:lstStyle/>
          <a:p>
            <a:pPr algn="l" indent="0" marL="0">
              <a:lnSpc>
                <a:spcPct val="125000"/>
              </a:lnSpc>
              <a:buNone/>
            </a:pPr>
            <a:r>
              <a:rPr lang="en-US" sz="1800" b="1" dirty="0">
                <a:solidFill>
                  <a:srgbClr val="818CF8"/>
                </a:solidFill>
                <a:latin typeface="JetBrains Mono" pitchFamily="34" charset="0"/>
                <a:ea typeface="JetBrains Mono" pitchFamily="34" charset="-122"/>
                <a:cs typeface="JetBrains Mono" pitchFamily="34" charset="-120"/>
              </a:rPr>
              <a:t>googleId</a:t>
            </a:r>
            <a:endParaRPr lang="en-US" sz="1800" dirty="0"/>
          </a:p>
        </p:txBody>
      </p:sp>
      <p:sp>
        <p:nvSpPr>
          <p:cNvPr id="16" name="Shape 14"/>
          <p:cNvSpPr/>
          <p:nvPr/>
        </p:nvSpPr>
        <p:spPr>
          <a:xfrm>
            <a:off x="3887688" y="5637461"/>
            <a:ext cx="1344960" cy="352425"/>
          </a:xfrm>
          <a:prstGeom prst="roundRect">
            <a:avLst>
              <a:gd name="adj" fmla="val 16216"/>
            </a:avLst>
          </a:prstGeom>
          <a:solidFill>
            <a:srgbClr val="818CF8">
              <a:alpha val="10000"/>
            </a:srgbClr>
          </a:solidFill>
          <a:ln w="9525">
            <a:solidFill>
              <a:srgbClr val="818CF8">
                <a:alpha val="35000"/>
              </a:srgbClr>
            </a:solidFill>
            <a:prstDash val="solid"/>
          </a:ln>
        </p:spPr>
      </p:sp>
      <p:sp>
        <p:nvSpPr>
          <p:cNvPr id="17" name="Text 15"/>
          <p:cNvSpPr/>
          <p:nvPr/>
        </p:nvSpPr>
        <p:spPr>
          <a:xfrm>
            <a:off x="4011513" y="5666036"/>
            <a:ext cx="1173510" cy="333375"/>
          </a:xfrm>
          <a:prstGeom prst="rect">
            <a:avLst/>
          </a:prstGeom>
          <a:noFill/>
          <a:ln/>
        </p:spPr>
        <p:txBody>
          <a:bodyPr wrap="square" lIns="25400" tIns="25400" rIns="25400" bIns="25400" rtlCol="0" anchor="t">
            <a:normAutofit/>
          </a:bodyPr>
          <a:lstStyle/>
          <a:p>
            <a:pPr algn="l" indent="0" marL="0">
              <a:lnSpc>
                <a:spcPct val="125000"/>
              </a:lnSpc>
              <a:buNone/>
            </a:pPr>
            <a:r>
              <a:rPr lang="en-US" sz="1800" b="1" dirty="0">
                <a:solidFill>
                  <a:srgbClr val="818CF8"/>
                </a:solidFill>
                <a:latin typeface="JetBrains Mono" pitchFamily="34" charset="0"/>
                <a:ea typeface="JetBrains Mono" pitchFamily="34" charset="-122"/>
                <a:cs typeface="JetBrains Mono" pitchFamily="34" charset="-120"/>
              </a:rPr>
              <a:t>githubId</a:t>
            </a:r>
            <a:endParaRPr lang="en-US" sz="1800" dirty="0"/>
          </a:p>
        </p:txBody>
      </p:sp>
      <p:sp>
        <p:nvSpPr>
          <p:cNvPr id="18" name="Text 16"/>
          <p:cNvSpPr/>
          <p:nvPr/>
        </p:nvSpPr>
        <p:spPr>
          <a:xfrm>
            <a:off x="2324100" y="6032748"/>
            <a:ext cx="6828282"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AAB7D2"/>
                </a:solidFill>
                <a:latin typeface="Space Grotesk" pitchFamily="34" charset="0"/>
                <a:ea typeface="Space Grotesk" pitchFamily="34" charset="-122"/>
                <a:cs typeface="Space Grotesk" pitchFamily="34" charset="-120"/>
              </a:rPr>
              <a:t>Provider IDs on the User model.</a:t>
            </a:r>
            <a:endParaRPr lang="en-US" sz="1950" dirty="0"/>
          </a:p>
        </p:txBody>
      </p:sp>
      <p:pic>
        <p:nvPicPr>
          <p:cNvPr id="19" name="Image 0" descr="preencoded.png">    </p:cNvPr>
          <p:cNvPicPr>
            <a:picLocks noChangeAspect="1"/>
          </p:cNvPicPr>
          <p:nvPr/>
        </p:nvPicPr>
        <p:blipFill>
          <a:blip r:embed="rId1"/>
          <a:stretch>
            <a:fillRect/>
          </a:stretch>
        </p:blipFill>
        <p:spPr>
          <a:xfrm>
            <a:off x="9334500" y="2649736"/>
            <a:ext cx="7886700" cy="5323433"/>
          </a:xfrm>
          <a:prstGeom prst="rect">
            <a:avLst/>
          </a:prstGeom>
        </p:spPr>
      </p:pic>
      <p:sp>
        <p:nvSpPr>
          <p:cNvPr id="20" name="Shape 17"/>
          <p:cNvSpPr/>
          <p:nvPr/>
        </p:nvSpPr>
        <p:spPr>
          <a:xfrm>
            <a:off x="1066800" y="9553575"/>
            <a:ext cx="675977" cy="390525"/>
          </a:xfrm>
          <a:prstGeom prst="roundRect">
            <a:avLst>
              <a:gd name="adj" fmla="val 50000"/>
            </a:avLst>
          </a:prstGeom>
          <a:ln w="9525">
            <a:solidFill>
              <a:srgbClr val="94A3B8">
                <a:alpha val="18000"/>
              </a:srgbClr>
            </a:solidFill>
            <a:prstDash val="solid"/>
          </a:ln>
        </p:spPr>
      </p:sp>
      <p:sp>
        <p:nvSpPr>
          <p:cNvPr id="21" name="Text 18"/>
          <p:cNvSpPr/>
          <p:nvPr/>
        </p:nvSpPr>
        <p:spPr>
          <a:xfrm>
            <a:off x="1171575" y="9601200"/>
            <a:ext cx="542627"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AAB7D2"/>
                </a:solidFill>
                <a:latin typeface="JetBrains Mono" pitchFamily="34" charset="0"/>
                <a:ea typeface="JetBrains Mono" pitchFamily="34" charset="-122"/>
                <a:cs typeface="JetBrains Mono" pitchFamily="34" charset="-120"/>
              </a:rPr>
              <a:t>IAM</a:t>
            </a:r>
            <a:endParaRPr lang="en-US" sz="1800" dirty="0"/>
          </a:p>
        </p:txBody>
      </p:sp>
      <p:sp>
        <p:nvSpPr>
          <p:cNvPr id="22" name="Text 19"/>
          <p:cNvSpPr/>
          <p:nvPr/>
        </p:nvSpPr>
        <p:spPr>
          <a:xfrm>
            <a:off x="1876127" y="9601200"/>
            <a:ext cx="288206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E7B99"/>
                </a:solidFill>
                <a:latin typeface="JetBrains Mono" pitchFamily="34" charset="0"/>
                <a:ea typeface="JetBrains Mono" pitchFamily="34" charset="-122"/>
                <a:cs typeface="JetBrains Mono" pitchFamily="34" charset="-120"/>
              </a:rPr>
              <a:t>Theory · OAuth 2.0</a:t>
            </a:r>
            <a:endParaRPr lang="en-US" sz="1800" dirty="0"/>
          </a:p>
        </p:txBody>
      </p:sp>
      <p:sp>
        <p:nvSpPr>
          <p:cNvPr id="23" name="Text 20"/>
          <p:cNvSpPr/>
          <p:nvPr/>
        </p:nvSpPr>
        <p:spPr>
          <a:xfrm>
            <a:off x="16132969" y="960120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E7B99"/>
                </a:solidFill>
                <a:latin typeface="JetBrains Mono" pitchFamily="34" charset="0"/>
                <a:ea typeface="JetBrains Mono" pitchFamily="34" charset="-122"/>
                <a:cs typeface="JetBrains Mono" pitchFamily="34" charset="-120"/>
              </a:rPr>
              <a:t>03 / 11</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1066800" y="914400"/>
            <a:ext cx="16639032" cy="3333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818CF8"/>
                </a:solidFill>
                <a:latin typeface="JetBrains Mono" pitchFamily="34" charset="0"/>
                <a:ea typeface="JetBrains Mono" pitchFamily="34" charset="-122"/>
                <a:cs typeface="JetBrains Mono" pitchFamily="34" charset="-120"/>
              </a:rPr>
              <a:t>PILLAR 02 </a:t>
            </a:r>
            <a:pPr algn="l" indent="0" marL="0">
              <a:buNone/>
            </a:pPr>
            <a:r>
              <a:rPr lang="en-US" sz="1800" spc="288" kern="0" dirty="0">
                <a:solidFill>
                  <a:srgbClr val="6E7B99"/>
                </a:solidFill>
                <a:latin typeface="JetBrains Mono" pitchFamily="34" charset="0"/>
                <a:ea typeface="JetBrains Mono" pitchFamily="34" charset="-122"/>
                <a:cs typeface="JetBrains Mono" pitchFamily="34" charset="-120"/>
              </a:rPr>
              <a:t>· </a:t>
            </a:r>
            <a:pPr algn="l" indent="0" marL="0">
              <a:buNone/>
            </a:pPr>
            <a:r>
              <a:rPr lang="en-US" sz="1800" spc="288" kern="0" dirty="0">
                <a:solidFill>
                  <a:srgbClr val="818CF8"/>
                </a:solidFill>
                <a:latin typeface="JetBrains Mono" pitchFamily="34" charset="0"/>
                <a:ea typeface="JetBrains Mono" pitchFamily="34" charset="-122"/>
                <a:cs typeface="JetBrains Mono" pitchFamily="34" charset="-120"/>
              </a:rPr>
              <a:t>STATELESS SESSIONS</a:t>
            </a:r>
            <a:endParaRPr lang="en-US" sz="1800" dirty="0"/>
          </a:p>
        </p:txBody>
      </p:sp>
      <p:sp>
        <p:nvSpPr>
          <p:cNvPr id="3" name="Text 1"/>
          <p:cNvSpPr/>
          <p:nvPr/>
        </p:nvSpPr>
        <p:spPr>
          <a:xfrm>
            <a:off x="1066800" y="1400175"/>
            <a:ext cx="14716125" cy="678061"/>
          </a:xfrm>
          <a:prstGeom prst="rect">
            <a:avLst/>
          </a:prstGeom>
          <a:noFill/>
          <a:ln/>
        </p:spPr>
        <p:txBody>
          <a:bodyPr wrap="square" lIns="25400" tIns="25400" rIns="25400" bIns="25400" rtlCol="0" anchor="t">
            <a:normAutofit/>
          </a:bodyPr>
          <a:lstStyle/>
          <a:p>
            <a:pPr algn="l" indent="0" marL="0">
              <a:lnSpc>
                <a:spcPct val="105000"/>
              </a:lnSpc>
              <a:buNone/>
            </a:pPr>
            <a:r>
              <a:rPr lang="en-US" sz="4800" b="1" spc="-96" kern="0" dirty="0">
                <a:solidFill>
                  <a:srgbClr val="E6EDF7"/>
                </a:solidFill>
                <a:latin typeface="Space Grotesk" pitchFamily="34" charset="0"/>
                <a:ea typeface="Space Grotesk" pitchFamily="34" charset="-122"/>
                <a:cs typeface="Space Grotesk" pitchFamily="34" charset="-120"/>
              </a:rPr>
              <a:t>JWT — short-lived access, rotating refresh.</a:t>
            </a:r>
            <a:endParaRPr lang="en-US" sz="4800" dirty="0"/>
          </a:p>
        </p:txBody>
      </p:sp>
      <p:sp>
        <p:nvSpPr>
          <p:cNvPr id="4" name="Text 2"/>
          <p:cNvSpPr/>
          <p:nvPr/>
        </p:nvSpPr>
        <p:spPr>
          <a:xfrm>
            <a:off x="1066800" y="2725936"/>
            <a:ext cx="1123950"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216" kern="0" dirty="0">
                <a:solidFill>
                  <a:srgbClr val="818CF8"/>
                </a:solidFill>
                <a:latin typeface="JetBrains Mono" pitchFamily="34" charset="0"/>
                <a:ea typeface="JetBrains Mono" pitchFamily="34" charset="-122"/>
                <a:cs typeface="JetBrains Mono" pitchFamily="34" charset="-120"/>
              </a:rPr>
              <a:t>ACCESS</a:t>
            </a:r>
            <a:endParaRPr lang="en-US" sz="1800" dirty="0"/>
          </a:p>
        </p:txBody>
      </p:sp>
      <p:sp>
        <p:nvSpPr>
          <p:cNvPr id="5" name="Text 3"/>
          <p:cNvSpPr/>
          <p:nvPr/>
        </p:nvSpPr>
        <p:spPr>
          <a:xfrm>
            <a:off x="2324100" y="2649736"/>
            <a:ext cx="6828282" cy="395288"/>
          </a:xfrm>
          <a:prstGeom prst="rect">
            <a:avLst/>
          </a:prstGeom>
          <a:noFill/>
          <a:ln/>
        </p:spPr>
        <p:txBody>
          <a:bodyPr wrap="square" lIns="25400" tIns="25400" rIns="25400" bIns="25400" rtlCol="0" anchor="t">
            <a:normAutofit/>
          </a:bodyPr>
          <a:lstStyle/>
          <a:p>
            <a:pPr algn="l" indent="0" marL="0">
              <a:lnSpc>
                <a:spcPct val="125000"/>
              </a:lnSpc>
              <a:buNone/>
            </a:pPr>
            <a:r>
              <a:rPr lang="en-US" sz="2250" b="1" dirty="0">
                <a:solidFill>
                  <a:srgbClr val="E6EDF7"/>
                </a:solidFill>
                <a:latin typeface="Space Grotesk" pitchFamily="34" charset="0"/>
                <a:ea typeface="Space Grotesk" pitchFamily="34" charset="-122"/>
                <a:cs typeface="Space Grotesk" pitchFamily="34" charset="-120"/>
              </a:rPr>
              <a:t>15 min, in-memory only</a:t>
            </a:r>
            <a:endParaRPr lang="en-US" sz="2250" dirty="0"/>
          </a:p>
        </p:txBody>
      </p:sp>
      <p:sp>
        <p:nvSpPr>
          <p:cNvPr id="6" name="Text 4"/>
          <p:cNvSpPr/>
          <p:nvPr/>
        </p:nvSpPr>
        <p:spPr>
          <a:xfrm>
            <a:off x="2324100" y="3064073"/>
            <a:ext cx="6828282"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AAB7D2"/>
                </a:solidFill>
                <a:latin typeface="Space Grotesk" pitchFamily="34" charset="0"/>
                <a:ea typeface="Space Grotesk" pitchFamily="34" charset="-122"/>
                <a:cs typeface="Space Grotesk" pitchFamily="34" charset="-120"/>
              </a:rPr>
              <a:t>Never touches localStorage.</a:t>
            </a:r>
            <a:endParaRPr lang="en-US" sz="1950" dirty="0"/>
          </a:p>
        </p:txBody>
      </p:sp>
      <p:sp>
        <p:nvSpPr>
          <p:cNvPr id="7" name="Text 5"/>
          <p:cNvSpPr/>
          <p:nvPr/>
        </p:nvSpPr>
        <p:spPr>
          <a:xfrm>
            <a:off x="1066800" y="3715494"/>
            <a:ext cx="1123950"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216" kern="0" dirty="0">
                <a:solidFill>
                  <a:srgbClr val="818CF8"/>
                </a:solidFill>
                <a:latin typeface="JetBrains Mono" pitchFamily="34" charset="0"/>
                <a:ea typeface="JetBrains Mono" pitchFamily="34" charset="-122"/>
                <a:cs typeface="JetBrains Mono" pitchFamily="34" charset="-120"/>
              </a:rPr>
              <a:t>REFRESH</a:t>
            </a:r>
            <a:endParaRPr lang="en-US" sz="1800" dirty="0"/>
          </a:p>
        </p:txBody>
      </p:sp>
      <p:sp>
        <p:nvSpPr>
          <p:cNvPr id="8" name="Text 6"/>
          <p:cNvSpPr/>
          <p:nvPr/>
        </p:nvSpPr>
        <p:spPr>
          <a:xfrm>
            <a:off x="2324100" y="3639294"/>
            <a:ext cx="6828282" cy="395288"/>
          </a:xfrm>
          <a:prstGeom prst="rect">
            <a:avLst/>
          </a:prstGeom>
          <a:noFill/>
          <a:ln/>
        </p:spPr>
        <p:txBody>
          <a:bodyPr wrap="square" lIns="25400" tIns="25400" rIns="25400" bIns="25400" rtlCol="0" anchor="t">
            <a:normAutofit/>
          </a:bodyPr>
          <a:lstStyle/>
          <a:p>
            <a:pPr algn="l" indent="0" marL="0">
              <a:lnSpc>
                <a:spcPct val="125000"/>
              </a:lnSpc>
              <a:buNone/>
            </a:pPr>
            <a:r>
              <a:rPr lang="en-US" sz="2250" b="1" dirty="0">
                <a:solidFill>
                  <a:srgbClr val="E6EDF7"/>
                </a:solidFill>
                <a:latin typeface="Space Grotesk" pitchFamily="34" charset="0"/>
                <a:ea typeface="Space Grotesk" pitchFamily="34" charset="-122"/>
                <a:cs typeface="Space Grotesk" pitchFamily="34" charset="-120"/>
              </a:rPr>
              <a:t>7 days, </a:t>
            </a:r>
            <a:pPr algn="l" indent="0" marL="0">
              <a:lnSpc>
                <a:spcPct val="125000"/>
              </a:lnSpc>
              <a:buNone/>
            </a:pPr>
            <a:r>
              <a:rPr lang="en-US" sz="1800" b="1" dirty="0">
                <a:solidFill>
                  <a:srgbClr val="818CF8"/>
                </a:solidFill>
                <a:highlight>
                  <a:srgbClr val="818CF8"/>
                </a:highlight>
                <a:latin typeface="JetBrains Mono" pitchFamily="34" charset="0"/>
                <a:ea typeface="JetBrains Mono" pitchFamily="34" charset="-122"/>
                <a:cs typeface="JetBrains Mono" pitchFamily="34" charset="-120"/>
              </a:rPr>
              <a:t>httpOnly </a:t>
            </a:r>
            <a:pPr algn="l" indent="0" marL="0">
              <a:lnSpc>
                <a:spcPct val="125000"/>
              </a:lnSpc>
              <a:buNone/>
            </a:pPr>
            <a:r>
              <a:rPr lang="en-US" sz="2250" b="1" dirty="0">
                <a:solidFill>
                  <a:srgbClr val="E6EDF7"/>
                </a:solidFill>
                <a:latin typeface="Space Grotesk" pitchFamily="34" charset="0"/>
                <a:ea typeface="Space Grotesk" pitchFamily="34" charset="-122"/>
                <a:cs typeface="Space Grotesk" pitchFamily="34" charset="-120"/>
              </a:rPr>
              <a:t>cookie</a:t>
            </a:r>
            <a:endParaRPr lang="en-US" sz="2250" dirty="0"/>
          </a:p>
        </p:txBody>
      </p:sp>
      <p:sp>
        <p:nvSpPr>
          <p:cNvPr id="9" name="Text 7"/>
          <p:cNvSpPr/>
          <p:nvPr/>
        </p:nvSpPr>
        <p:spPr>
          <a:xfrm>
            <a:off x="2324100" y="4053632"/>
            <a:ext cx="6828282"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AAB7D2"/>
                </a:solidFill>
                <a:latin typeface="Space Grotesk" pitchFamily="34" charset="0"/>
                <a:ea typeface="Space Grotesk" pitchFamily="34" charset="-122"/>
                <a:cs typeface="Space Grotesk" pitchFamily="34" charset="-120"/>
              </a:rPr>
              <a:t>Invisible to JavaScript.</a:t>
            </a:r>
            <a:endParaRPr lang="en-US" sz="1950" dirty="0"/>
          </a:p>
        </p:txBody>
      </p:sp>
      <p:sp>
        <p:nvSpPr>
          <p:cNvPr id="10" name="Text 8"/>
          <p:cNvSpPr/>
          <p:nvPr/>
        </p:nvSpPr>
        <p:spPr>
          <a:xfrm>
            <a:off x="1066800" y="4705052"/>
            <a:ext cx="1123950"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216" kern="0" dirty="0">
                <a:solidFill>
                  <a:srgbClr val="818CF8"/>
                </a:solidFill>
                <a:latin typeface="JetBrains Mono" pitchFamily="34" charset="0"/>
                <a:ea typeface="JetBrains Mono" pitchFamily="34" charset="-122"/>
                <a:cs typeface="JetBrains Mono" pitchFamily="34" charset="-120"/>
              </a:rPr>
              <a:t>ROTATE</a:t>
            </a:r>
            <a:endParaRPr lang="en-US" sz="1800" dirty="0"/>
          </a:p>
        </p:txBody>
      </p:sp>
      <p:sp>
        <p:nvSpPr>
          <p:cNvPr id="11" name="Text 9"/>
          <p:cNvSpPr/>
          <p:nvPr/>
        </p:nvSpPr>
        <p:spPr>
          <a:xfrm>
            <a:off x="2324100" y="4628852"/>
            <a:ext cx="6828282" cy="395288"/>
          </a:xfrm>
          <a:prstGeom prst="rect">
            <a:avLst/>
          </a:prstGeom>
          <a:noFill/>
          <a:ln/>
        </p:spPr>
        <p:txBody>
          <a:bodyPr wrap="square" lIns="25400" tIns="25400" rIns="25400" bIns="25400" rtlCol="0" anchor="t">
            <a:normAutofit/>
          </a:bodyPr>
          <a:lstStyle/>
          <a:p>
            <a:pPr algn="l" indent="0" marL="0">
              <a:lnSpc>
                <a:spcPct val="125000"/>
              </a:lnSpc>
              <a:buNone/>
            </a:pPr>
            <a:r>
              <a:rPr lang="en-US" sz="2250" b="1" dirty="0">
                <a:solidFill>
                  <a:srgbClr val="E6EDF7"/>
                </a:solidFill>
                <a:latin typeface="Space Grotesk" pitchFamily="34" charset="0"/>
                <a:ea typeface="Space Grotesk" pitchFamily="34" charset="-122"/>
                <a:cs typeface="Space Grotesk" pitchFamily="34" charset="-120"/>
              </a:rPr>
              <a:t>Old token deleted on use</a:t>
            </a:r>
            <a:endParaRPr lang="en-US" sz="2250" dirty="0"/>
          </a:p>
        </p:txBody>
      </p:sp>
      <p:sp>
        <p:nvSpPr>
          <p:cNvPr id="12" name="Text 10"/>
          <p:cNvSpPr/>
          <p:nvPr/>
        </p:nvSpPr>
        <p:spPr>
          <a:xfrm>
            <a:off x="2324100" y="5043190"/>
            <a:ext cx="6828282"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AAB7D2"/>
                </a:solidFill>
                <a:latin typeface="Space Grotesk" pitchFamily="34" charset="0"/>
                <a:ea typeface="Space Grotesk" pitchFamily="34" charset="-122"/>
                <a:cs typeface="Space Grotesk" pitchFamily="34" charset="-120"/>
              </a:rPr>
              <a:t>Each refresh is single-use.</a:t>
            </a:r>
            <a:endParaRPr lang="en-US" sz="1950" dirty="0"/>
          </a:p>
        </p:txBody>
      </p:sp>
      <p:sp>
        <p:nvSpPr>
          <p:cNvPr id="13" name="Text 11"/>
          <p:cNvSpPr/>
          <p:nvPr/>
        </p:nvSpPr>
        <p:spPr>
          <a:xfrm>
            <a:off x="1066800" y="5694611"/>
            <a:ext cx="1123950"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216" kern="0" dirty="0">
                <a:solidFill>
                  <a:srgbClr val="818CF8"/>
                </a:solidFill>
                <a:latin typeface="JetBrains Mono" pitchFamily="34" charset="0"/>
                <a:ea typeface="JetBrains Mono" pitchFamily="34" charset="-122"/>
                <a:cs typeface="JetBrains Mono" pitchFamily="34" charset="-120"/>
              </a:rPr>
              <a:t>REPLAY</a:t>
            </a:r>
            <a:endParaRPr lang="en-US" sz="1800" dirty="0"/>
          </a:p>
        </p:txBody>
      </p:sp>
      <p:sp>
        <p:nvSpPr>
          <p:cNvPr id="14" name="Text 12"/>
          <p:cNvSpPr/>
          <p:nvPr/>
        </p:nvSpPr>
        <p:spPr>
          <a:xfrm>
            <a:off x="2324100" y="5618411"/>
            <a:ext cx="6828282" cy="395288"/>
          </a:xfrm>
          <a:prstGeom prst="rect">
            <a:avLst/>
          </a:prstGeom>
          <a:noFill/>
          <a:ln/>
        </p:spPr>
        <p:txBody>
          <a:bodyPr wrap="square" lIns="25400" tIns="25400" rIns="25400" bIns="25400" rtlCol="0" anchor="t">
            <a:normAutofit/>
          </a:bodyPr>
          <a:lstStyle/>
          <a:p>
            <a:pPr algn="l" indent="0" marL="0">
              <a:lnSpc>
                <a:spcPct val="125000"/>
              </a:lnSpc>
              <a:buNone/>
            </a:pPr>
            <a:r>
              <a:rPr lang="en-US" sz="2250" b="1" dirty="0">
                <a:solidFill>
                  <a:srgbClr val="E6EDF7"/>
                </a:solidFill>
                <a:latin typeface="Space Grotesk" pitchFamily="34" charset="0"/>
                <a:ea typeface="Space Grotesk" pitchFamily="34" charset="-122"/>
                <a:cs typeface="Space Grotesk" pitchFamily="34" charset="-120"/>
              </a:rPr>
              <a:t>Reused token → session killed</a:t>
            </a:r>
            <a:endParaRPr lang="en-US" sz="2250" dirty="0"/>
          </a:p>
        </p:txBody>
      </p:sp>
      <p:sp>
        <p:nvSpPr>
          <p:cNvPr id="15" name="Text 13"/>
          <p:cNvSpPr/>
          <p:nvPr/>
        </p:nvSpPr>
        <p:spPr>
          <a:xfrm>
            <a:off x="2324100" y="6032748"/>
            <a:ext cx="6828282"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AAB7D2"/>
                </a:solidFill>
                <a:latin typeface="Space Grotesk" pitchFamily="34" charset="0"/>
                <a:ea typeface="Space Grotesk" pitchFamily="34" charset="-122"/>
                <a:cs typeface="Space Grotesk" pitchFamily="34" charset="-120"/>
              </a:rPr>
              <a:t>Treated as theft, all sessions revoked.</a:t>
            </a:r>
            <a:endParaRPr lang="en-US" sz="1950" dirty="0"/>
          </a:p>
        </p:txBody>
      </p:sp>
      <p:pic>
        <p:nvPicPr>
          <p:cNvPr id="16" name="Image 0" descr="preencoded.png">    </p:cNvPr>
          <p:cNvPicPr>
            <a:picLocks noChangeAspect="1"/>
          </p:cNvPicPr>
          <p:nvPr/>
        </p:nvPicPr>
        <p:blipFill>
          <a:blip r:embed="rId1"/>
          <a:stretch>
            <a:fillRect/>
          </a:stretch>
        </p:blipFill>
        <p:spPr>
          <a:xfrm>
            <a:off x="9334500" y="2649736"/>
            <a:ext cx="7886700" cy="5520630"/>
          </a:xfrm>
          <a:prstGeom prst="rect">
            <a:avLst/>
          </a:prstGeom>
        </p:spPr>
      </p:pic>
      <p:sp>
        <p:nvSpPr>
          <p:cNvPr id="17" name="Shape 14"/>
          <p:cNvSpPr/>
          <p:nvPr/>
        </p:nvSpPr>
        <p:spPr>
          <a:xfrm>
            <a:off x="1066800" y="9553575"/>
            <a:ext cx="675977" cy="390525"/>
          </a:xfrm>
          <a:prstGeom prst="roundRect">
            <a:avLst>
              <a:gd name="adj" fmla="val 50000"/>
            </a:avLst>
          </a:prstGeom>
          <a:ln w="9525">
            <a:solidFill>
              <a:srgbClr val="94A3B8">
                <a:alpha val="18000"/>
              </a:srgbClr>
            </a:solidFill>
            <a:prstDash val="solid"/>
          </a:ln>
        </p:spPr>
      </p:sp>
      <p:sp>
        <p:nvSpPr>
          <p:cNvPr id="18" name="Text 15"/>
          <p:cNvSpPr/>
          <p:nvPr/>
        </p:nvSpPr>
        <p:spPr>
          <a:xfrm>
            <a:off x="1171575" y="9601200"/>
            <a:ext cx="542627"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AAB7D2"/>
                </a:solidFill>
                <a:latin typeface="JetBrains Mono" pitchFamily="34" charset="0"/>
                <a:ea typeface="JetBrains Mono" pitchFamily="34" charset="-122"/>
                <a:cs typeface="JetBrains Mono" pitchFamily="34" charset="-120"/>
              </a:rPr>
              <a:t>IAM</a:t>
            </a:r>
            <a:endParaRPr lang="en-US" sz="1800" dirty="0"/>
          </a:p>
        </p:txBody>
      </p:sp>
      <p:sp>
        <p:nvSpPr>
          <p:cNvPr id="19" name="Text 16"/>
          <p:cNvSpPr/>
          <p:nvPr/>
        </p:nvSpPr>
        <p:spPr>
          <a:xfrm>
            <a:off x="1876127" y="9601200"/>
            <a:ext cx="1941612"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E7B99"/>
                </a:solidFill>
                <a:latin typeface="JetBrains Mono" pitchFamily="34" charset="0"/>
                <a:ea typeface="JetBrains Mono" pitchFamily="34" charset="-122"/>
                <a:cs typeface="JetBrains Mono" pitchFamily="34" charset="-120"/>
              </a:rPr>
              <a:t>Theory · JWT</a:t>
            </a:r>
            <a:endParaRPr lang="en-US" sz="1800" dirty="0"/>
          </a:p>
        </p:txBody>
      </p:sp>
      <p:sp>
        <p:nvSpPr>
          <p:cNvPr id="20" name="Text 17"/>
          <p:cNvSpPr/>
          <p:nvPr/>
        </p:nvSpPr>
        <p:spPr>
          <a:xfrm>
            <a:off x="16132969" y="960120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E7B99"/>
                </a:solidFill>
                <a:latin typeface="JetBrains Mono" pitchFamily="34" charset="0"/>
                <a:ea typeface="JetBrains Mono" pitchFamily="34" charset="-122"/>
                <a:cs typeface="JetBrains Mono" pitchFamily="34" charset="-120"/>
              </a:rPr>
              <a:t>04 / 11</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1066800" y="914400"/>
            <a:ext cx="16639032" cy="3333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818CF8"/>
                </a:solidFill>
                <a:latin typeface="JetBrains Mono" pitchFamily="34" charset="0"/>
                <a:ea typeface="JetBrains Mono" pitchFamily="34" charset="-122"/>
                <a:cs typeface="JetBrains Mono" pitchFamily="34" charset="-120"/>
              </a:rPr>
              <a:t>PILLAR 03 </a:t>
            </a:r>
            <a:pPr algn="l" indent="0" marL="0">
              <a:buNone/>
            </a:pPr>
            <a:r>
              <a:rPr lang="en-US" sz="1800" spc="288" kern="0" dirty="0">
                <a:solidFill>
                  <a:srgbClr val="6E7B99"/>
                </a:solidFill>
                <a:latin typeface="JetBrains Mono" pitchFamily="34" charset="0"/>
                <a:ea typeface="JetBrains Mono" pitchFamily="34" charset="-122"/>
                <a:cs typeface="JetBrains Mono" pitchFamily="34" charset="-120"/>
              </a:rPr>
              <a:t>· </a:t>
            </a:r>
            <a:pPr algn="l" indent="0" marL="0">
              <a:buNone/>
            </a:pPr>
            <a:r>
              <a:rPr lang="en-US" sz="1800" spc="288" kern="0" dirty="0">
                <a:solidFill>
                  <a:srgbClr val="818CF8"/>
                </a:solidFill>
                <a:latin typeface="JetBrains Mono" pitchFamily="34" charset="0"/>
                <a:ea typeface="JetBrains Mono" pitchFamily="34" charset="-122"/>
                <a:cs typeface="JetBrains Mono" pitchFamily="34" charset="-120"/>
              </a:rPr>
              <a:t>PHISHING-RESISTANT AUTH</a:t>
            </a:r>
            <a:endParaRPr lang="en-US" sz="1800" dirty="0"/>
          </a:p>
        </p:txBody>
      </p:sp>
      <p:sp>
        <p:nvSpPr>
          <p:cNvPr id="3" name="Text 1"/>
          <p:cNvSpPr/>
          <p:nvPr/>
        </p:nvSpPr>
        <p:spPr>
          <a:xfrm>
            <a:off x="1066800" y="1400175"/>
            <a:ext cx="14716125" cy="678061"/>
          </a:xfrm>
          <a:prstGeom prst="rect">
            <a:avLst/>
          </a:prstGeom>
          <a:noFill/>
          <a:ln/>
        </p:spPr>
        <p:txBody>
          <a:bodyPr wrap="square" lIns="25400" tIns="25400" rIns="25400" bIns="25400" rtlCol="0" anchor="t">
            <a:normAutofit/>
          </a:bodyPr>
          <a:lstStyle/>
          <a:p>
            <a:pPr algn="l" indent="0" marL="0">
              <a:lnSpc>
                <a:spcPct val="105000"/>
              </a:lnSpc>
              <a:buNone/>
            </a:pPr>
            <a:r>
              <a:rPr lang="en-US" sz="4800" b="1" spc="-96" kern="0" dirty="0">
                <a:solidFill>
                  <a:srgbClr val="E6EDF7"/>
                </a:solidFill>
                <a:latin typeface="Space Grotesk" pitchFamily="34" charset="0"/>
                <a:ea typeface="Space Grotesk" pitchFamily="34" charset="-122"/>
                <a:cs typeface="Space Grotesk" pitchFamily="34" charset="-120"/>
              </a:rPr>
              <a:t>WebAuthn — your fingerprint is the password.</a:t>
            </a:r>
            <a:endParaRPr lang="en-US" sz="4800" dirty="0"/>
          </a:p>
        </p:txBody>
      </p:sp>
      <p:sp>
        <p:nvSpPr>
          <p:cNvPr id="4" name="Text 2"/>
          <p:cNvSpPr/>
          <p:nvPr/>
        </p:nvSpPr>
        <p:spPr>
          <a:xfrm>
            <a:off x="1066800" y="2725936"/>
            <a:ext cx="1123950"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216" kern="0" dirty="0">
                <a:solidFill>
                  <a:srgbClr val="818CF8"/>
                </a:solidFill>
                <a:latin typeface="JetBrains Mono" pitchFamily="34" charset="0"/>
                <a:ea typeface="JetBrains Mono" pitchFamily="34" charset="-122"/>
                <a:cs typeface="JetBrains Mono" pitchFamily="34" charset="-120"/>
              </a:rPr>
              <a:t>UX</a:t>
            </a:r>
            <a:endParaRPr lang="en-US" sz="1800" dirty="0"/>
          </a:p>
        </p:txBody>
      </p:sp>
      <p:sp>
        <p:nvSpPr>
          <p:cNvPr id="5" name="Text 3"/>
          <p:cNvSpPr/>
          <p:nvPr/>
        </p:nvSpPr>
        <p:spPr>
          <a:xfrm>
            <a:off x="2324100" y="2649736"/>
            <a:ext cx="6828282" cy="395288"/>
          </a:xfrm>
          <a:prstGeom prst="rect">
            <a:avLst/>
          </a:prstGeom>
          <a:noFill/>
          <a:ln/>
        </p:spPr>
        <p:txBody>
          <a:bodyPr wrap="square" lIns="25400" tIns="25400" rIns="25400" bIns="25400" rtlCol="0" anchor="t">
            <a:normAutofit/>
          </a:bodyPr>
          <a:lstStyle/>
          <a:p>
            <a:pPr algn="l" indent="0" marL="0">
              <a:lnSpc>
                <a:spcPct val="125000"/>
              </a:lnSpc>
              <a:buNone/>
            </a:pPr>
            <a:r>
              <a:rPr lang="en-US" sz="2250" b="1" dirty="0">
                <a:solidFill>
                  <a:srgbClr val="E6EDF7"/>
                </a:solidFill>
                <a:latin typeface="Space Grotesk" pitchFamily="34" charset="0"/>
                <a:ea typeface="Space Grotesk" pitchFamily="34" charset="-122"/>
                <a:cs typeface="Space Grotesk" pitchFamily="34" charset="-120"/>
              </a:rPr>
              <a:t>Touch ID · Windows Hello · USB key</a:t>
            </a:r>
            <a:endParaRPr lang="en-US" sz="2250" dirty="0"/>
          </a:p>
        </p:txBody>
      </p:sp>
      <p:sp>
        <p:nvSpPr>
          <p:cNvPr id="6" name="Text 4"/>
          <p:cNvSpPr/>
          <p:nvPr/>
        </p:nvSpPr>
        <p:spPr>
          <a:xfrm>
            <a:off x="2324100" y="3064073"/>
            <a:ext cx="6828282"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AAB7D2"/>
                </a:solidFill>
                <a:latin typeface="Space Grotesk" pitchFamily="34" charset="0"/>
                <a:ea typeface="Space Grotesk" pitchFamily="34" charset="-122"/>
                <a:cs typeface="Space Grotesk" pitchFamily="34" charset="-120"/>
              </a:rPr>
              <a:t>One tap and you're in.</a:t>
            </a:r>
            <a:endParaRPr lang="en-US" sz="1950" dirty="0"/>
          </a:p>
        </p:txBody>
      </p:sp>
      <p:sp>
        <p:nvSpPr>
          <p:cNvPr id="7" name="Text 5"/>
          <p:cNvSpPr/>
          <p:nvPr/>
        </p:nvSpPr>
        <p:spPr>
          <a:xfrm>
            <a:off x="1066800" y="3715494"/>
            <a:ext cx="1123950"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216" kern="0" dirty="0">
                <a:solidFill>
                  <a:srgbClr val="818CF8"/>
                </a:solidFill>
                <a:latin typeface="JetBrains Mono" pitchFamily="34" charset="0"/>
                <a:ea typeface="JetBrains Mono" pitchFamily="34" charset="-122"/>
                <a:cs typeface="JetBrains Mono" pitchFamily="34" charset="-120"/>
              </a:rPr>
              <a:t>LIB</a:t>
            </a:r>
            <a:endParaRPr lang="en-US" sz="1800" dirty="0"/>
          </a:p>
        </p:txBody>
      </p:sp>
      <p:sp>
        <p:nvSpPr>
          <p:cNvPr id="8" name="Text 6"/>
          <p:cNvSpPr/>
          <p:nvPr/>
        </p:nvSpPr>
        <p:spPr>
          <a:xfrm>
            <a:off x="2324100" y="3639294"/>
            <a:ext cx="6828282" cy="395288"/>
          </a:xfrm>
          <a:prstGeom prst="rect">
            <a:avLst/>
          </a:prstGeom>
          <a:noFill/>
          <a:ln/>
        </p:spPr>
        <p:txBody>
          <a:bodyPr wrap="square" lIns="25400" tIns="25400" rIns="25400" bIns="25400" rtlCol="0" anchor="t">
            <a:normAutofit/>
          </a:bodyPr>
          <a:lstStyle/>
          <a:p>
            <a:pPr algn="l" indent="0" marL="0">
              <a:lnSpc>
                <a:spcPct val="125000"/>
              </a:lnSpc>
              <a:buNone/>
            </a:pPr>
            <a:r>
              <a:rPr lang="en-US" sz="2250" b="1" dirty="0">
                <a:solidFill>
                  <a:srgbClr val="E6EDF7"/>
                </a:solidFill>
                <a:latin typeface="Space Grotesk" pitchFamily="34" charset="0"/>
                <a:ea typeface="Space Grotesk" pitchFamily="34" charset="-122"/>
                <a:cs typeface="Space Grotesk" pitchFamily="34" charset="-120"/>
              </a:rPr>
              <a:t>SimpleWebAuthn</a:t>
            </a:r>
            <a:endParaRPr lang="en-US" sz="2250" dirty="0"/>
          </a:p>
        </p:txBody>
      </p:sp>
      <p:sp>
        <p:nvSpPr>
          <p:cNvPr id="9" name="Text 7"/>
          <p:cNvSpPr/>
          <p:nvPr/>
        </p:nvSpPr>
        <p:spPr>
          <a:xfrm>
            <a:off x="2324100" y="4053632"/>
            <a:ext cx="6828282"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AAB7D2"/>
                </a:solidFill>
                <a:latin typeface="Space Grotesk" pitchFamily="34" charset="0"/>
                <a:ea typeface="Space Grotesk" pitchFamily="34" charset="-122"/>
                <a:cs typeface="Space Grotesk" pitchFamily="34" charset="-120"/>
              </a:rPr>
              <a:t>Server &amp; browser libraries.</a:t>
            </a:r>
            <a:endParaRPr lang="en-US" sz="1950" dirty="0"/>
          </a:p>
        </p:txBody>
      </p:sp>
      <p:sp>
        <p:nvSpPr>
          <p:cNvPr id="10" name="Text 8"/>
          <p:cNvSpPr/>
          <p:nvPr/>
        </p:nvSpPr>
        <p:spPr>
          <a:xfrm>
            <a:off x="1066800" y="4705052"/>
            <a:ext cx="1123950"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216" kern="0" dirty="0">
                <a:solidFill>
                  <a:srgbClr val="818CF8"/>
                </a:solidFill>
                <a:latin typeface="JetBrains Mono" pitchFamily="34" charset="0"/>
                <a:ea typeface="JetBrains Mono" pitchFamily="34" charset="-122"/>
                <a:cs typeface="JetBrains Mono" pitchFamily="34" charset="-120"/>
              </a:rPr>
              <a:t>KEYS</a:t>
            </a:r>
            <a:endParaRPr lang="en-US" sz="1800" dirty="0"/>
          </a:p>
        </p:txBody>
      </p:sp>
      <p:sp>
        <p:nvSpPr>
          <p:cNvPr id="11" name="Text 9"/>
          <p:cNvSpPr/>
          <p:nvPr/>
        </p:nvSpPr>
        <p:spPr>
          <a:xfrm>
            <a:off x="2324100" y="4628852"/>
            <a:ext cx="6828282" cy="395288"/>
          </a:xfrm>
          <a:prstGeom prst="rect">
            <a:avLst/>
          </a:prstGeom>
          <a:noFill/>
          <a:ln/>
        </p:spPr>
        <p:txBody>
          <a:bodyPr wrap="square" lIns="25400" tIns="25400" rIns="25400" bIns="25400" rtlCol="0" anchor="t">
            <a:normAutofit/>
          </a:bodyPr>
          <a:lstStyle/>
          <a:p>
            <a:pPr algn="l" indent="0" marL="0">
              <a:lnSpc>
                <a:spcPct val="125000"/>
              </a:lnSpc>
              <a:buNone/>
            </a:pPr>
            <a:r>
              <a:rPr lang="en-US" sz="2250" b="1" dirty="0">
                <a:solidFill>
                  <a:srgbClr val="E6EDF7"/>
                </a:solidFill>
                <a:latin typeface="Space Grotesk" pitchFamily="34" charset="0"/>
                <a:ea typeface="Space Grotesk" pitchFamily="34" charset="-122"/>
                <a:cs typeface="Space Grotesk" pitchFamily="34" charset="-120"/>
              </a:rPr>
              <a:t>Public key stored, private key local</a:t>
            </a:r>
            <a:endParaRPr lang="en-US" sz="2250" dirty="0"/>
          </a:p>
        </p:txBody>
      </p:sp>
      <p:sp>
        <p:nvSpPr>
          <p:cNvPr id="12" name="Text 10"/>
          <p:cNvSpPr/>
          <p:nvPr/>
        </p:nvSpPr>
        <p:spPr>
          <a:xfrm>
            <a:off x="2324100" y="5043190"/>
            <a:ext cx="6828282"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AAB7D2"/>
                </a:solidFill>
                <a:latin typeface="Space Grotesk" pitchFamily="34" charset="0"/>
                <a:ea typeface="Space Grotesk" pitchFamily="34" charset="-122"/>
                <a:cs typeface="Space Grotesk" pitchFamily="34" charset="-120"/>
              </a:rPr>
              <a:t>Private key never leaves the device.</a:t>
            </a:r>
            <a:endParaRPr lang="en-US" sz="1950" dirty="0"/>
          </a:p>
        </p:txBody>
      </p:sp>
      <p:sp>
        <p:nvSpPr>
          <p:cNvPr id="13" name="Text 11"/>
          <p:cNvSpPr/>
          <p:nvPr/>
        </p:nvSpPr>
        <p:spPr>
          <a:xfrm>
            <a:off x="1066800" y="5694611"/>
            <a:ext cx="1123950"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216" kern="0" dirty="0">
                <a:solidFill>
                  <a:srgbClr val="818CF8"/>
                </a:solidFill>
                <a:latin typeface="JetBrains Mono" pitchFamily="34" charset="0"/>
                <a:ea typeface="JetBrains Mono" pitchFamily="34" charset="-122"/>
                <a:cs typeface="JetBrains Mono" pitchFamily="34" charset="-120"/>
              </a:rPr>
              <a:t>SAFE</a:t>
            </a:r>
            <a:endParaRPr lang="en-US" sz="1800" dirty="0"/>
          </a:p>
        </p:txBody>
      </p:sp>
      <p:sp>
        <p:nvSpPr>
          <p:cNvPr id="14" name="Text 12"/>
          <p:cNvSpPr/>
          <p:nvPr/>
        </p:nvSpPr>
        <p:spPr>
          <a:xfrm>
            <a:off x="2324100" y="5618411"/>
            <a:ext cx="6828282" cy="395288"/>
          </a:xfrm>
          <a:prstGeom prst="rect">
            <a:avLst/>
          </a:prstGeom>
          <a:noFill/>
          <a:ln/>
        </p:spPr>
        <p:txBody>
          <a:bodyPr wrap="square" lIns="25400" tIns="25400" rIns="25400" bIns="25400" rtlCol="0" anchor="t">
            <a:normAutofit/>
          </a:bodyPr>
          <a:lstStyle/>
          <a:p>
            <a:pPr algn="l" indent="0" marL="0">
              <a:lnSpc>
                <a:spcPct val="125000"/>
              </a:lnSpc>
              <a:buNone/>
            </a:pPr>
            <a:r>
              <a:rPr lang="en-US" sz="2250" b="1" dirty="0">
                <a:solidFill>
                  <a:srgbClr val="E6EDF7"/>
                </a:solidFill>
                <a:latin typeface="Space Grotesk" pitchFamily="34" charset="0"/>
                <a:ea typeface="Space Grotesk" pitchFamily="34" charset="-122"/>
                <a:cs typeface="Space Grotesk" pitchFamily="34" charset="-120"/>
              </a:rPr>
              <a:t>Origin-bound</a:t>
            </a:r>
            <a:endParaRPr lang="en-US" sz="2250" dirty="0"/>
          </a:p>
        </p:txBody>
      </p:sp>
      <p:sp>
        <p:nvSpPr>
          <p:cNvPr id="15" name="Text 13"/>
          <p:cNvSpPr/>
          <p:nvPr/>
        </p:nvSpPr>
        <p:spPr>
          <a:xfrm>
            <a:off x="2324100" y="6032748"/>
            <a:ext cx="6828282"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AAB7D2"/>
                </a:solidFill>
                <a:latin typeface="Space Grotesk" pitchFamily="34" charset="0"/>
                <a:ea typeface="Space Grotesk" pitchFamily="34" charset="-122"/>
                <a:cs typeface="Space Grotesk" pitchFamily="34" charset="-120"/>
              </a:rPr>
              <a:t>A fake site can't trigger your real passkey.</a:t>
            </a:r>
            <a:endParaRPr lang="en-US" sz="1950" dirty="0"/>
          </a:p>
        </p:txBody>
      </p:sp>
      <p:pic>
        <p:nvPicPr>
          <p:cNvPr id="16" name="Image 0" descr="preencoded.png">    </p:cNvPr>
          <p:cNvPicPr>
            <a:picLocks noChangeAspect="1"/>
          </p:cNvPicPr>
          <p:nvPr/>
        </p:nvPicPr>
        <p:blipFill>
          <a:blip r:embed="rId1"/>
          <a:stretch>
            <a:fillRect/>
          </a:stretch>
        </p:blipFill>
        <p:spPr>
          <a:xfrm>
            <a:off x="9334500" y="2649736"/>
            <a:ext cx="7886700" cy="4534793"/>
          </a:xfrm>
          <a:prstGeom prst="rect">
            <a:avLst/>
          </a:prstGeom>
        </p:spPr>
      </p:pic>
      <p:sp>
        <p:nvSpPr>
          <p:cNvPr id="17" name="Shape 14"/>
          <p:cNvSpPr/>
          <p:nvPr/>
        </p:nvSpPr>
        <p:spPr>
          <a:xfrm>
            <a:off x="1066800" y="9553575"/>
            <a:ext cx="675977" cy="390525"/>
          </a:xfrm>
          <a:prstGeom prst="roundRect">
            <a:avLst>
              <a:gd name="adj" fmla="val 50000"/>
            </a:avLst>
          </a:prstGeom>
          <a:ln w="9525">
            <a:solidFill>
              <a:srgbClr val="94A3B8">
                <a:alpha val="18000"/>
              </a:srgbClr>
            </a:solidFill>
            <a:prstDash val="solid"/>
          </a:ln>
        </p:spPr>
      </p:sp>
      <p:sp>
        <p:nvSpPr>
          <p:cNvPr id="18" name="Text 15"/>
          <p:cNvSpPr/>
          <p:nvPr/>
        </p:nvSpPr>
        <p:spPr>
          <a:xfrm>
            <a:off x="1171575" y="9601200"/>
            <a:ext cx="542627"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AAB7D2"/>
                </a:solidFill>
                <a:latin typeface="JetBrains Mono" pitchFamily="34" charset="0"/>
                <a:ea typeface="JetBrains Mono" pitchFamily="34" charset="-122"/>
                <a:cs typeface="JetBrains Mono" pitchFamily="34" charset="-120"/>
              </a:rPr>
              <a:t>IAM</a:t>
            </a:r>
            <a:endParaRPr lang="en-US" sz="1800" dirty="0"/>
          </a:p>
        </p:txBody>
      </p:sp>
      <p:sp>
        <p:nvSpPr>
          <p:cNvPr id="19" name="Text 16"/>
          <p:cNvSpPr/>
          <p:nvPr/>
        </p:nvSpPr>
        <p:spPr>
          <a:xfrm>
            <a:off x="1876127" y="9601200"/>
            <a:ext cx="2722023"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E7B99"/>
                </a:solidFill>
                <a:latin typeface="JetBrains Mono" pitchFamily="34" charset="0"/>
                <a:ea typeface="JetBrains Mono" pitchFamily="34" charset="-122"/>
                <a:cs typeface="JetBrains Mono" pitchFamily="34" charset="-120"/>
              </a:rPr>
              <a:t>Theory · WebAuthn</a:t>
            </a:r>
            <a:endParaRPr lang="en-US" sz="1800" dirty="0"/>
          </a:p>
        </p:txBody>
      </p:sp>
      <p:sp>
        <p:nvSpPr>
          <p:cNvPr id="20" name="Text 17"/>
          <p:cNvSpPr/>
          <p:nvPr/>
        </p:nvSpPr>
        <p:spPr>
          <a:xfrm>
            <a:off x="16132969" y="960120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E7B99"/>
                </a:solidFill>
                <a:latin typeface="JetBrains Mono" pitchFamily="34" charset="0"/>
                <a:ea typeface="JetBrains Mono" pitchFamily="34" charset="-122"/>
                <a:cs typeface="JetBrains Mono" pitchFamily="34" charset="-120"/>
              </a:rPr>
              <a:t>05 / 11</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1066800" y="914400"/>
            <a:ext cx="16639032" cy="3333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818CF8"/>
                </a:solidFill>
                <a:latin typeface="JetBrains Mono" pitchFamily="34" charset="0"/>
                <a:ea typeface="JetBrains Mono" pitchFamily="34" charset="-122"/>
                <a:cs typeface="JetBrains Mono" pitchFamily="34" charset="-120"/>
              </a:rPr>
              <a:t>PILLAR 04 </a:t>
            </a:r>
            <a:pPr algn="l" indent="0" marL="0">
              <a:buNone/>
            </a:pPr>
            <a:r>
              <a:rPr lang="en-US" sz="1800" spc="288" kern="0" dirty="0">
                <a:solidFill>
                  <a:srgbClr val="6E7B99"/>
                </a:solidFill>
                <a:latin typeface="JetBrains Mono" pitchFamily="34" charset="0"/>
                <a:ea typeface="JetBrains Mono" pitchFamily="34" charset="-122"/>
                <a:cs typeface="JetBrains Mono" pitchFamily="34" charset="-120"/>
              </a:rPr>
              <a:t>· </a:t>
            </a:r>
            <a:pPr algn="l" indent="0" marL="0">
              <a:buNone/>
            </a:pPr>
            <a:r>
              <a:rPr lang="en-US" sz="1800" spc="288" kern="0" dirty="0">
                <a:solidFill>
                  <a:srgbClr val="818CF8"/>
                </a:solidFill>
                <a:latin typeface="JetBrains Mono" pitchFamily="34" charset="0"/>
                <a:ea typeface="JetBrains Mono" pitchFamily="34" charset="-122"/>
                <a:cs typeface="JetBrains Mono" pitchFamily="34" charset="-120"/>
              </a:rPr>
              <a:t>AUTHORIZATION</a:t>
            </a:r>
            <a:endParaRPr lang="en-US" sz="1800" dirty="0"/>
          </a:p>
        </p:txBody>
      </p:sp>
      <p:sp>
        <p:nvSpPr>
          <p:cNvPr id="3" name="Text 1"/>
          <p:cNvSpPr/>
          <p:nvPr/>
        </p:nvSpPr>
        <p:spPr>
          <a:xfrm>
            <a:off x="1066800" y="1400175"/>
            <a:ext cx="14716125" cy="678061"/>
          </a:xfrm>
          <a:prstGeom prst="rect">
            <a:avLst/>
          </a:prstGeom>
          <a:noFill/>
          <a:ln/>
        </p:spPr>
        <p:txBody>
          <a:bodyPr wrap="square" lIns="25400" tIns="25400" rIns="25400" bIns="25400" rtlCol="0" anchor="t">
            <a:normAutofit/>
          </a:bodyPr>
          <a:lstStyle/>
          <a:p>
            <a:pPr algn="l" indent="0" marL="0">
              <a:lnSpc>
                <a:spcPct val="105000"/>
              </a:lnSpc>
              <a:buNone/>
            </a:pPr>
            <a:r>
              <a:rPr lang="en-US" sz="4800" b="1" spc="-96" kern="0" dirty="0">
                <a:solidFill>
                  <a:srgbClr val="E6EDF7"/>
                </a:solidFill>
                <a:latin typeface="Space Grotesk" pitchFamily="34" charset="0"/>
                <a:ea typeface="Space Grotesk" pitchFamily="34" charset="-122"/>
                <a:cs typeface="Space Grotesk" pitchFamily="34" charset="-120"/>
              </a:rPr>
              <a:t>RBAC — two roles, one middleware.</a:t>
            </a:r>
            <a:endParaRPr lang="en-US" sz="4800" dirty="0"/>
          </a:p>
        </p:txBody>
      </p:sp>
      <p:sp>
        <p:nvSpPr>
          <p:cNvPr id="4" name="Text 2"/>
          <p:cNvSpPr/>
          <p:nvPr/>
        </p:nvSpPr>
        <p:spPr>
          <a:xfrm>
            <a:off x="1066800" y="2725936"/>
            <a:ext cx="1123950"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216" kern="0" dirty="0">
                <a:solidFill>
                  <a:srgbClr val="818CF8"/>
                </a:solidFill>
                <a:latin typeface="JetBrains Mono" pitchFamily="34" charset="0"/>
                <a:ea typeface="JetBrains Mono" pitchFamily="34" charset="-122"/>
                <a:cs typeface="JetBrains Mono" pitchFamily="34" charset="-120"/>
              </a:rPr>
              <a:t>ROLES</a:t>
            </a:r>
            <a:endParaRPr lang="en-US" sz="1800" dirty="0"/>
          </a:p>
        </p:txBody>
      </p:sp>
      <p:sp>
        <p:nvSpPr>
          <p:cNvPr id="5" name="Shape 3"/>
          <p:cNvSpPr/>
          <p:nvPr/>
        </p:nvSpPr>
        <p:spPr>
          <a:xfrm>
            <a:off x="2324100" y="2668786"/>
            <a:ext cx="796379" cy="352425"/>
          </a:xfrm>
          <a:prstGeom prst="roundRect">
            <a:avLst>
              <a:gd name="adj" fmla="val 16216"/>
            </a:avLst>
          </a:prstGeom>
          <a:solidFill>
            <a:srgbClr val="818CF8">
              <a:alpha val="10000"/>
            </a:srgbClr>
          </a:solidFill>
          <a:ln w="9525">
            <a:solidFill>
              <a:srgbClr val="818CF8">
                <a:alpha val="35000"/>
              </a:srgbClr>
            </a:solidFill>
            <a:prstDash val="solid"/>
          </a:ln>
        </p:spPr>
      </p:sp>
      <p:sp>
        <p:nvSpPr>
          <p:cNvPr id="6" name="Text 4"/>
          <p:cNvSpPr/>
          <p:nvPr/>
        </p:nvSpPr>
        <p:spPr>
          <a:xfrm>
            <a:off x="2447925" y="2697361"/>
            <a:ext cx="624929" cy="333375"/>
          </a:xfrm>
          <a:prstGeom prst="rect">
            <a:avLst/>
          </a:prstGeom>
          <a:noFill/>
          <a:ln/>
        </p:spPr>
        <p:txBody>
          <a:bodyPr wrap="square" lIns="25400" tIns="25400" rIns="25400" bIns="25400" rtlCol="0" anchor="t">
            <a:normAutofit/>
          </a:bodyPr>
          <a:lstStyle/>
          <a:p>
            <a:pPr algn="l" indent="0" marL="0">
              <a:lnSpc>
                <a:spcPct val="125000"/>
              </a:lnSpc>
              <a:buNone/>
            </a:pPr>
            <a:r>
              <a:rPr lang="en-US" sz="1800" b="1" dirty="0">
                <a:solidFill>
                  <a:srgbClr val="818CF8"/>
                </a:solidFill>
                <a:latin typeface="JetBrains Mono" pitchFamily="34" charset="0"/>
                <a:ea typeface="JetBrains Mono" pitchFamily="34" charset="-122"/>
                <a:cs typeface="JetBrains Mono" pitchFamily="34" charset="-120"/>
              </a:rPr>
              <a:t>user</a:t>
            </a:r>
            <a:endParaRPr lang="en-US" sz="1800" dirty="0"/>
          </a:p>
        </p:txBody>
      </p:sp>
      <p:sp>
        <p:nvSpPr>
          <p:cNvPr id="7" name="Shape 5"/>
          <p:cNvSpPr/>
          <p:nvPr/>
        </p:nvSpPr>
        <p:spPr>
          <a:xfrm>
            <a:off x="3339108" y="2668786"/>
            <a:ext cx="933450" cy="352425"/>
          </a:xfrm>
          <a:prstGeom prst="roundRect">
            <a:avLst>
              <a:gd name="adj" fmla="val 16216"/>
            </a:avLst>
          </a:prstGeom>
          <a:solidFill>
            <a:srgbClr val="818CF8">
              <a:alpha val="10000"/>
            </a:srgbClr>
          </a:solidFill>
          <a:ln w="9525">
            <a:solidFill>
              <a:srgbClr val="818CF8">
                <a:alpha val="35000"/>
              </a:srgbClr>
            </a:solidFill>
            <a:prstDash val="solid"/>
          </a:ln>
        </p:spPr>
      </p:sp>
      <p:sp>
        <p:nvSpPr>
          <p:cNvPr id="8" name="Text 6"/>
          <p:cNvSpPr/>
          <p:nvPr/>
        </p:nvSpPr>
        <p:spPr>
          <a:xfrm>
            <a:off x="3462933" y="2697361"/>
            <a:ext cx="762000" cy="333375"/>
          </a:xfrm>
          <a:prstGeom prst="rect">
            <a:avLst/>
          </a:prstGeom>
          <a:noFill/>
          <a:ln/>
        </p:spPr>
        <p:txBody>
          <a:bodyPr wrap="square" lIns="25400" tIns="25400" rIns="25400" bIns="25400" rtlCol="0" anchor="t">
            <a:normAutofit/>
          </a:bodyPr>
          <a:lstStyle/>
          <a:p>
            <a:pPr algn="l" indent="0" marL="0">
              <a:lnSpc>
                <a:spcPct val="125000"/>
              </a:lnSpc>
              <a:buNone/>
            </a:pPr>
            <a:r>
              <a:rPr lang="en-US" sz="1800" b="1" dirty="0">
                <a:solidFill>
                  <a:srgbClr val="818CF8"/>
                </a:solidFill>
                <a:latin typeface="JetBrains Mono" pitchFamily="34" charset="0"/>
                <a:ea typeface="JetBrains Mono" pitchFamily="34" charset="-122"/>
                <a:cs typeface="JetBrains Mono" pitchFamily="34" charset="-120"/>
              </a:rPr>
              <a:t>admin</a:t>
            </a:r>
            <a:endParaRPr lang="en-US" sz="1800" dirty="0"/>
          </a:p>
        </p:txBody>
      </p:sp>
      <p:sp>
        <p:nvSpPr>
          <p:cNvPr id="9" name="Text 7"/>
          <p:cNvSpPr/>
          <p:nvPr/>
        </p:nvSpPr>
        <p:spPr>
          <a:xfrm>
            <a:off x="2324100" y="3064073"/>
            <a:ext cx="6828282"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AAB7D2"/>
                </a:solidFill>
                <a:latin typeface="Space Grotesk" pitchFamily="34" charset="0"/>
                <a:ea typeface="Space Grotesk" pitchFamily="34" charset="-122"/>
                <a:cs typeface="Space Grotesk" pitchFamily="34" charset="-120"/>
              </a:rPr>
              <a:t>Stored on the User document.</a:t>
            </a:r>
            <a:endParaRPr lang="en-US" sz="1950" dirty="0"/>
          </a:p>
        </p:txBody>
      </p:sp>
      <p:sp>
        <p:nvSpPr>
          <p:cNvPr id="10" name="Text 8"/>
          <p:cNvSpPr/>
          <p:nvPr/>
        </p:nvSpPr>
        <p:spPr>
          <a:xfrm>
            <a:off x="1066800" y="3715494"/>
            <a:ext cx="1123950"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216" kern="0" dirty="0">
                <a:solidFill>
                  <a:srgbClr val="818CF8"/>
                </a:solidFill>
                <a:latin typeface="JetBrains Mono" pitchFamily="34" charset="0"/>
                <a:ea typeface="JetBrains Mono" pitchFamily="34" charset="-122"/>
                <a:cs typeface="JetBrains Mono" pitchFamily="34" charset="-120"/>
              </a:rPr>
              <a:t>GUARD</a:t>
            </a:r>
            <a:endParaRPr lang="en-US" sz="1800" dirty="0"/>
          </a:p>
        </p:txBody>
      </p:sp>
      <p:sp>
        <p:nvSpPr>
          <p:cNvPr id="11" name="Text 9"/>
          <p:cNvSpPr/>
          <p:nvPr/>
        </p:nvSpPr>
        <p:spPr>
          <a:xfrm>
            <a:off x="2324100" y="3639294"/>
            <a:ext cx="6828282" cy="395288"/>
          </a:xfrm>
          <a:prstGeom prst="rect">
            <a:avLst/>
          </a:prstGeom>
          <a:noFill/>
          <a:ln/>
        </p:spPr>
        <p:txBody>
          <a:bodyPr wrap="square" lIns="25400" tIns="25400" rIns="25400" bIns="25400" rtlCol="0" anchor="t">
            <a:normAutofit/>
          </a:bodyPr>
          <a:lstStyle/>
          <a:p>
            <a:pPr algn="l" indent="0" marL="0">
              <a:lnSpc>
                <a:spcPct val="125000"/>
              </a:lnSpc>
              <a:buNone/>
            </a:pPr>
            <a:r>
              <a:rPr lang="en-US" sz="2250" b="1" dirty="0">
                <a:solidFill>
                  <a:srgbClr val="E6EDF7"/>
                </a:solidFill>
                <a:latin typeface="Space Grotesk" pitchFamily="34" charset="0"/>
                <a:ea typeface="Space Grotesk" pitchFamily="34" charset="-122"/>
                <a:cs typeface="Space Grotesk" pitchFamily="34" charset="-120"/>
              </a:rPr>
              <a:t>authenticate → authorize</a:t>
            </a:r>
            <a:endParaRPr lang="en-US" sz="2250" dirty="0"/>
          </a:p>
        </p:txBody>
      </p:sp>
      <p:sp>
        <p:nvSpPr>
          <p:cNvPr id="12" name="Text 10"/>
          <p:cNvSpPr/>
          <p:nvPr/>
        </p:nvSpPr>
        <p:spPr>
          <a:xfrm>
            <a:off x="2324100" y="4053632"/>
            <a:ext cx="6828282"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AAB7D2"/>
                </a:solidFill>
                <a:latin typeface="Space Grotesk" pitchFamily="34" charset="0"/>
                <a:ea typeface="Space Grotesk" pitchFamily="34" charset="-122"/>
                <a:cs typeface="Space Grotesk" pitchFamily="34" charset="-120"/>
              </a:rPr>
              <a:t>Verify JWT, then check the role.</a:t>
            </a:r>
            <a:endParaRPr lang="en-US" sz="1950" dirty="0"/>
          </a:p>
        </p:txBody>
      </p:sp>
      <p:sp>
        <p:nvSpPr>
          <p:cNvPr id="13" name="Text 11"/>
          <p:cNvSpPr/>
          <p:nvPr/>
        </p:nvSpPr>
        <p:spPr>
          <a:xfrm>
            <a:off x="1066800" y="4705052"/>
            <a:ext cx="1123950"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216" kern="0" dirty="0">
                <a:solidFill>
                  <a:srgbClr val="818CF8"/>
                </a:solidFill>
                <a:latin typeface="JetBrains Mono" pitchFamily="34" charset="0"/>
                <a:ea typeface="JetBrains Mono" pitchFamily="34" charset="-122"/>
                <a:cs typeface="JetBrains Mono" pitchFamily="34" charset="-120"/>
              </a:rPr>
              <a:t>ROUTE</a:t>
            </a:r>
            <a:endParaRPr lang="en-US" sz="1800" dirty="0"/>
          </a:p>
        </p:txBody>
      </p:sp>
      <p:sp>
        <p:nvSpPr>
          <p:cNvPr id="14" name="Shape 12"/>
          <p:cNvSpPr/>
          <p:nvPr/>
        </p:nvSpPr>
        <p:spPr>
          <a:xfrm>
            <a:off x="2324100" y="4647902"/>
            <a:ext cx="1344960" cy="352425"/>
          </a:xfrm>
          <a:prstGeom prst="roundRect">
            <a:avLst>
              <a:gd name="adj" fmla="val 16216"/>
            </a:avLst>
          </a:prstGeom>
          <a:solidFill>
            <a:srgbClr val="818CF8">
              <a:alpha val="10000"/>
            </a:srgbClr>
          </a:solidFill>
          <a:ln w="9525">
            <a:solidFill>
              <a:srgbClr val="818CF8">
                <a:alpha val="35000"/>
              </a:srgbClr>
            </a:solidFill>
            <a:prstDash val="solid"/>
          </a:ln>
        </p:spPr>
      </p:sp>
      <p:sp>
        <p:nvSpPr>
          <p:cNvPr id="15" name="Text 13"/>
          <p:cNvSpPr/>
          <p:nvPr/>
        </p:nvSpPr>
        <p:spPr>
          <a:xfrm>
            <a:off x="2447925" y="4676477"/>
            <a:ext cx="1173510" cy="333375"/>
          </a:xfrm>
          <a:prstGeom prst="rect">
            <a:avLst/>
          </a:prstGeom>
          <a:noFill/>
          <a:ln/>
        </p:spPr>
        <p:txBody>
          <a:bodyPr wrap="square" lIns="25400" tIns="25400" rIns="25400" bIns="25400" rtlCol="0" anchor="t">
            <a:normAutofit/>
          </a:bodyPr>
          <a:lstStyle/>
          <a:p>
            <a:pPr algn="l" indent="0" marL="0">
              <a:lnSpc>
                <a:spcPct val="125000"/>
              </a:lnSpc>
              <a:buNone/>
            </a:pPr>
            <a:r>
              <a:rPr lang="en-US" sz="1800" b="1" dirty="0">
                <a:solidFill>
                  <a:srgbClr val="818CF8"/>
                </a:solidFill>
                <a:latin typeface="JetBrains Mono" pitchFamily="34" charset="0"/>
                <a:ea typeface="JetBrains Mono" pitchFamily="34" charset="-122"/>
                <a:cs typeface="JetBrains Mono" pitchFamily="34" charset="-120"/>
              </a:rPr>
              <a:t>/admin/*</a:t>
            </a:r>
            <a:endParaRPr lang="en-US" sz="1800" dirty="0"/>
          </a:p>
        </p:txBody>
      </p:sp>
      <p:sp>
        <p:nvSpPr>
          <p:cNvPr id="16" name="Text 14"/>
          <p:cNvSpPr/>
          <p:nvPr/>
        </p:nvSpPr>
        <p:spPr>
          <a:xfrm>
            <a:off x="2324100" y="5043190"/>
            <a:ext cx="6828282"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AAB7D2"/>
                </a:solidFill>
                <a:latin typeface="Space Grotesk" pitchFamily="34" charset="0"/>
                <a:ea typeface="Space Grotesk" pitchFamily="34" charset="-122"/>
                <a:cs typeface="Space Grotesk" pitchFamily="34" charset="-120"/>
              </a:rPr>
              <a:t>Chained with both middleware.</a:t>
            </a:r>
            <a:endParaRPr lang="en-US" sz="1950" dirty="0"/>
          </a:p>
        </p:txBody>
      </p:sp>
      <p:sp>
        <p:nvSpPr>
          <p:cNvPr id="17" name="Text 15"/>
          <p:cNvSpPr/>
          <p:nvPr/>
        </p:nvSpPr>
        <p:spPr>
          <a:xfrm>
            <a:off x="1066800" y="5694611"/>
            <a:ext cx="1123950"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216" kern="0" dirty="0">
                <a:solidFill>
                  <a:srgbClr val="818CF8"/>
                </a:solidFill>
                <a:latin typeface="JetBrains Mono" pitchFamily="34" charset="0"/>
                <a:ea typeface="JetBrains Mono" pitchFamily="34" charset="-122"/>
                <a:cs typeface="JetBrains Mono" pitchFamily="34" charset="-120"/>
              </a:rPr>
              <a:t>FAIL</a:t>
            </a:r>
            <a:endParaRPr lang="en-US" sz="1800" dirty="0"/>
          </a:p>
        </p:txBody>
      </p:sp>
      <p:sp>
        <p:nvSpPr>
          <p:cNvPr id="18" name="Text 16"/>
          <p:cNvSpPr/>
          <p:nvPr/>
        </p:nvSpPr>
        <p:spPr>
          <a:xfrm>
            <a:off x="2324100" y="5618411"/>
            <a:ext cx="6828282" cy="395288"/>
          </a:xfrm>
          <a:prstGeom prst="rect">
            <a:avLst/>
          </a:prstGeom>
          <a:noFill/>
          <a:ln/>
        </p:spPr>
        <p:txBody>
          <a:bodyPr wrap="square" lIns="25400" tIns="25400" rIns="25400" bIns="25400" rtlCol="0" anchor="t">
            <a:normAutofit/>
          </a:bodyPr>
          <a:lstStyle/>
          <a:p>
            <a:pPr algn="l" indent="0" marL="0">
              <a:lnSpc>
                <a:spcPct val="125000"/>
              </a:lnSpc>
              <a:buNone/>
            </a:pPr>
            <a:r>
              <a:rPr lang="en-US" sz="2250" b="1" dirty="0">
                <a:solidFill>
                  <a:srgbClr val="E6EDF7"/>
                </a:solidFill>
                <a:latin typeface="Space Grotesk" pitchFamily="34" charset="0"/>
                <a:ea typeface="Space Grotesk" pitchFamily="34" charset="-122"/>
                <a:cs typeface="Space Grotesk" pitchFamily="34" charset="-120"/>
              </a:rPr>
              <a:t>403 Forbidden</a:t>
            </a:r>
            <a:endParaRPr lang="en-US" sz="2250" dirty="0"/>
          </a:p>
        </p:txBody>
      </p:sp>
      <p:sp>
        <p:nvSpPr>
          <p:cNvPr id="19" name="Text 17"/>
          <p:cNvSpPr/>
          <p:nvPr/>
        </p:nvSpPr>
        <p:spPr>
          <a:xfrm>
            <a:off x="2324100" y="6032748"/>
            <a:ext cx="6828282"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AAB7D2"/>
                </a:solidFill>
                <a:latin typeface="Space Grotesk" pitchFamily="34" charset="0"/>
                <a:ea typeface="Space Grotesk" pitchFamily="34" charset="-122"/>
                <a:cs typeface="Space Grotesk" pitchFamily="34" charset="-120"/>
              </a:rPr>
              <a:t>Never reaches the controller.</a:t>
            </a:r>
            <a:endParaRPr lang="en-US" sz="1950" dirty="0"/>
          </a:p>
        </p:txBody>
      </p:sp>
      <p:pic>
        <p:nvPicPr>
          <p:cNvPr id="20" name="Image 0" descr="preencoded.png">    </p:cNvPr>
          <p:cNvPicPr>
            <a:picLocks noChangeAspect="1"/>
          </p:cNvPicPr>
          <p:nvPr/>
        </p:nvPicPr>
        <p:blipFill>
          <a:blip r:embed="rId1"/>
          <a:stretch>
            <a:fillRect/>
          </a:stretch>
        </p:blipFill>
        <p:spPr>
          <a:xfrm>
            <a:off x="9334500" y="2649736"/>
            <a:ext cx="7886700" cy="5323433"/>
          </a:xfrm>
          <a:prstGeom prst="rect">
            <a:avLst/>
          </a:prstGeom>
        </p:spPr>
      </p:pic>
      <p:sp>
        <p:nvSpPr>
          <p:cNvPr id="21" name="Shape 18"/>
          <p:cNvSpPr/>
          <p:nvPr/>
        </p:nvSpPr>
        <p:spPr>
          <a:xfrm>
            <a:off x="1066800" y="9553575"/>
            <a:ext cx="675977" cy="390525"/>
          </a:xfrm>
          <a:prstGeom prst="roundRect">
            <a:avLst>
              <a:gd name="adj" fmla="val 50000"/>
            </a:avLst>
          </a:prstGeom>
          <a:ln w="9525">
            <a:solidFill>
              <a:srgbClr val="94A3B8">
                <a:alpha val="18000"/>
              </a:srgbClr>
            </a:solidFill>
            <a:prstDash val="solid"/>
          </a:ln>
        </p:spPr>
      </p:sp>
      <p:sp>
        <p:nvSpPr>
          <p:cNvPr id="22" name="Text 19"/>
          <p:cNvSpPr/>
          <p:nvPr/>
        </p:nvSpPr>
        <p:spPr>
          <a:xfrm>
            <a:off x="1171575" y="9601200"/>
            <a:ext cx="542627"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AAB7D2"/>
                </a:solidFill>
                <a:latin typeface="JetBrains Mono" pitchFamily="34" charset="0"/>
                <a:ea typeface="JetBrains Mono" pitchFamily="34" charset="-122"/>
                <a:cs typeface="JetBrains Mono" pitchFamily="34" charset="-120"/>
              </a:rPr>
              <a:t>IAM</a:t>
            </a:r>
            <a:endParaRPr lang="en-US" sz="1800" dirty="0"/>
          </a:p>
        </p:txBody>
      </p:sp>
      <p:sp>
        <p:nvSpPr>
          <p:cNvPr id="23" name="Text 20"/>
          <p:cNvSpPr/>
          <p:nvPr/>
        </p:nvSpPr>
        <p:spPr>
          <a:xfrm>
            <a:off x="1876127" y="9601200"/>
            <a:ext cx="2097137"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E7B99"/>
                </a:solidFill>
                <a:latin typeface="JetBrains Mono" pitchFamily="34" charset="0"/>
                <a:ea typeface="JetBrains Mono" pitchFamily="34" charset="-122"/>
                <a:cs typeface="JetBrains Mono" pitchFamily="34" charset="-120"/>
              </a:rPr>
              <a:t>Theory · RBAC</a:t>
            </a:r>
            <a:endParaRPr lang="en-US" sz="1800" dirty="0"/>
          </a:p>
        </p:txBody>
      </p:sp>
      <p:sp>
        <p:nvSpPr>
          <p:cNvPr id="24" name="Text 21"/>
          <p:cNvSpPr/>
          <p:nvPr/>
        </p:nvSpPr>
        <p:spPr>
          <a:xfrm>
            <a:off x="16132969" y="960120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E7B99"/>
                </a:solidFill>
                <a:latin typeface="JetBrains Mono" pitchFamily="34" charset="0"/>
                <a:ea typeface="JetBrains Mono" pitchFamily="34" charset="-122"/>
                <a:cs typeface="JetBrains Mono" pitchFamily="34" charset="-120"/>
              </a:rPr>
              <a:t>06 / 11</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1066800" y="914400"/>
            <a:ext cx="16639032" cy="3333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818CF8"/>
                </a:solidFill>
                <a:latin typeface="JetBrains Mono" pitchFamily="34" charset="0"/>
                <a:ea typeface="JetBrains Mono" pitchFamily="34" charset="-122"/>
                <a:cs typeface="JetBrains Mono" pitchFamily="34" charset="-120"/>
              </a:rPr>
              <a:t>ARCHITECTURE </a:t>
            </a:r>
            <a:pPr algn="l" indent="0" marL="0">
              <a:buNone/>
            </a:pPr>
            <a:r>
              <a:rPr lang="en-US" sz="1800" spc="288" kern="0" dirty="0">
                <a:solidFill>
                  <a:srgbClr val="6E7B99"/>
                </a:solidFill>
                <a:latin typeface="JetBrains Mono" pitchFamily="34" charset="0"/>
                <a:ea typeface="JetBrains Mono" pitchFamily="34" charset="-122"/>
                <a:cs typeface="JetBrains Mono" pitchFamily="34" charset="-120"/>
              </a:rPr>
              <a:t>· </a:t>
            </a:r>
            <a:pPr algn="l" indent="0" marL="0">
              <a:buNone/>
            </a:pPr>
            <a:r>
              <a:rPr lang="en-US" sz="1800" spc="288" kern="0" dirty="0">
                <a:solidFill>
                  <a:srgbClr val="818CF8"/>
                </a:solidFill>
                <a:latin typeface="JetBrains Mono" pitchFamily="34" charset="0"/>
                <a:ea typeface="JetBrains Mono" pitchFamily="34" charset="-122"/>
                <a:cs typeface="JetBrains Mono" pitchFamily="34" charset="-120"/>
              </a:rPr>
              <a:t>BACKEND</a:t>
            </a:r>
            <a:endParaRPr lang="en-US" sz="1800" dirty="0"/>
          </a:p>
        </p:txBody>
      </p:sp>
      <p:sp>
        <p:nvSpPr>
          <p:cNvPr id="3" name="Text 1"/>
          <p:cNvSpPr/>
          <p:nvPr/>
        </p:nvSpPr>
        <p:spPr>
          <a:xfrm>
            <a:off x="1066800" y="1400175"/>
            <a:ext cx="14716125" cy="678061"/>
          </a:xfrm>
          <a:prstGeom prst="rect">
            <a:avLst/>
          </a:prstGeom>
          <a:noFill/>
          <a:ln/>
        </p:spPr>
        <p:txBody>
          <a:bodyPr wrap="square" lIns="25400" tIns="25400" rIns="25400" bIns="25400" rtlCol="0" anchor="t">
            <a:normAutofit/>
          </a:bodyPr>
          <a:lstStyle/>
          <a:p>
            <a:pPr algn="l" indent="0" marL="0">
              <a:lnSpc>
                <a:spcPct val="105000"/>
              </a:lnSpc>
              <a:buNone/>
            </a:pPr>
            <a:r>
              <a:rPr lang="en-US" sz="4800" b="1" spc="-96" kern="0" dirty="0">
                <a:solidFill>
                  <a:srgbClr val="E6EDF7"/>
                </a:solidFill>
                <a:latin typeface="Space Grotesk" pitchFamily="34" charset="0"/>
                <a:ea typeface="Space Grotesk" pitchFamily="34" charset="-122"/>
                <a:cs typeface="Space Grotesk" pitchFamily="34" charset="-120"/>
              </a:rPr>
              <a:t>A layered backend — each layer has one job.</a:t>
            </a:r>
            <a:endParaRPr lang="en-US" sz="4800" dirty="0"/>
          </a:p>
        </p:txBody>
      </p:sp>
      <p:pic>
        <p:nvPicPr>
          <p:cNvPr id="4" name="Image 0" descr="preencoded.png">    </p:cNvPr>
          <p:cNvPicPr>
            <a:picLocks noChangeAspect="1"/>
          </p:cNvPicPr>
          <p:nvPr/>
        </p:nvPicPr>
        <p:blipFill>
          <a:blip r:embed="rId1"/>
          <a:stretch>
            <a:fillRect/>
          </a:stretch>
        </p:blipFill>
        <p:spPr>
          <a:xfrm>
            <a:off x="1066800" y="2344936"/>
            <a:ext cx="7810500" cy="7048500"/>
          </a:xfrm>
          <a:prstGeom prst="rect">
            <a:avLst/>
          </a:prstGeom>
        </p:spPr>
      </p:pic>
      <p:sp>
        <p:nvSpPr>
          <p:cNvPr id="5" name="Text 2"/>
          <p:cNvSpPr/>
          <p:nvPr/>
        </p:nvSpPr>
        <p:spPr>
          <a:xfrm>
            <a:off x="9410700" y="2421136"/>
            <a:ext cx="1123950"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216" kern="0" dirty="0">
                <a:solidFill>
                  <a:srgbClr val="818CF8"/>
                </a:solidFill>
                <a:latin typeface="JetBrains Mono" pitchFamily="34" charset="0"/>
                <a:ea typeface="JetBrains Mono" pitchFamily="34" charset="-122"/>
                <a:cs typeface="JetBrains Mono" pitchFamily="34" charset="-120"/>
              </a:rPr>
              <a:t>ROUTES</a:t>
            </a:r>
            <a:endParaRPr lang="en-US" sz="1800" dirty="0"/>
          </a:p>
        </p:txBody>
      </p:sp>
      <p:sp>
        <p:nvSpPr>
          <p:cNvPr id="6" name="Text 3"/>
          <p:cNvSpPr/>
          <p:nvPr/>
        </p:nvSpPr>
        <p:spPr>
          <a:xfrm>
            <a:off x="10668000" y="2344936"/>
            <a:ext cx="6749796" cy="395288"/>
          </a:xfrm>
          <a:prstGeom prst="rect">
            <a:avLst/>
          </a:prstGeom>
          <a:noFill/>
          <a:ln/>
        </p:spPr>
        <p:txBody>
          <a:bodyPr wrap="square" lIns="25400" tIns="25400" rIns="25400" bIns="25400" rtlCol="0" anchor="t">
            <a:normAutofit/>
          </a:bodyPr>
          <a:lstStyle/>
          <a:p>
            <a:pPr algn="l" indent="0" marL="0">
              <a:lnSpc>
                <a:spcPct val="125000"/>
              </a:lnSpc>
              <a:buNone/>
            </a:pPr>
            <a:r>
              <a:rPr lang="en-US" sz="2250" b="1" dirty="0">
                <a:solidFill>
                  <a:srgbClr val="E6EDF7"/>
                </a:solidFill>
                <a:latin typeface="Space Grotesk" pitchFamily="34" charset="0"/>
                <a:ea typeface="Space Grotesk" pitchFamily="34" charset="-122"/>
                <a:cs typeface="Space Grotesk" pitchFamily="34" charset="-120"/>
              </a:rPr>
              <a:t>HTTP only</a:t>
            </a:r>
            <a:endParaRPr lang="en-US" sz="2250" dirty="0"/>
          </a:p>
        </p:txBody>
      </p:sp>
      <p:sp>
        <p:nvSpPr>
          <p:cNvPr id="7" name="Text 4"/>
          <p:cNvSpPr/>
          <p:nvPr/>
        </p:nvSpPr>
        <p:spPr>
          <a:xfrm>
            <a:off x="10668000" y="2759273"/>
            <a:ext cx="6749796"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AAB7D2"/>
                </a:solidFill>
                <a:latin typeface="Space Grotesk" pitchFamily="34" charset="0"/>
                <a:ea typeface="Space Grotesk" pitchFamily="34" charset="-122"/>
                <a:cs typeface="Space Grotesk" pitchFamily="34" charset="-120"/>
              </a:rPr>
              <a:t>Parse request, return response.</a:t>
            </a:r>
            <a:endParaRPr lang="en-US" sz="1950" dirty="0"/>
          </a:p>
        </p:txBody>
      </p:sp>
      <p:sp>
        <p:nvSpPr>
          <p:cNvPr id="8" name="Text 5"/>
          <p:cNvSpPr/>
          <p:nvPr/>
        </p:nvSpPr>
        <p:spPr>
          <a:xfrm>
            <a:off x="9410700" y="3410694"/>
            <a:ext cx="1123950"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216" kern="0" dirty="0">
                <a:solidFill>
                  <a:srgbClr val="818CF8"/>
                </a:solidFill>
                <a:latin typeface="JetBrains Mono" pitchFamily="34" charset="0"/>
                <a:ea typeface="JetBrains Mono" pitchFamily="34" charset="-122"/>
                <a:cs typeface="JetBrains Mono" pitchFamily="34" charset="-120"/>
              </a:rPr>
              <a:t>MIDDLE</a:t>
            </a:r>
            <a:endParaRPr lang="en-US" sz="1800" dirty="0"/>
          </a:p>
        </p:txBody>
      </p:sp>
      <p:sp>
        <p:nvSpPr>
          <p:cNvPr id="9" name="Text 6"/>
          <p:cNvSpPr/>
          <p:nvPr/>
        </p:nvSpPr>
        <p:spPr>
          <a:xfrm>
            <a:off x="10668000" y="3334494"/>
            <a:ext cx="6749796" cy="395288"/>
          </a:xfrm>
          <a:prstGeom prst="rect">
            <a:avLst/>
          </a:prstGeom>
          <a:noFill/>
          <a:ln/>
        </p:spPr>
        <p:txBody>
          <a:bodyPr wrap="square" lIns="25400" tIns="25400" rIns="25400" bIns="25400" rtlCol="0" anchor="t">
            <a:normAutofit/>
          </a:bodyPr>
          <a:lstStyle/>
          <a:p>
            <a:pPr algn="l" indent="0" marL="0">
              <a:lnSpc>
                <a:spcPct val="125000"/>
              </a:lnSpc>
              <a:buNone/>
            </a:pPr>
            <a:r>
              <a:rPr lang="en-US" sz="2250" b="1" dirty="0">
                <a:solidFill>
                  <a:srgbClr val="E6EDF7"/>
                </a:solidFill>
                <a:latin typeface="Space Grotesk" pitchFamily="34" charset="0"/>
                <a:ea typeface="Space Grotesk" pitchFamily="34" charset="-122"/>
                <a:cs typeface="Space Grotesk" pitchFamily="34" charset="-120"/>
              </a:rPr>
              <a:t>Cross-cutting concerns</a:t>
            </a:r>
            <a:endParaRPr lang="en-US" sz="2250" dirty="0"/>
          </a:p>
        </p:txBody>
      </p:sp>
      <p:sp>
        <p:nvSpPr>
          <p:cNvPr id="10" name="Text 7"/>
          <p:cNvSpPr/>
          <p:nvPr/>
        </p:nvSpPr>
        <p:spPr>
          <a:xfrm>
            <a:off x="10668000" y="3748832"/>
            <a:ext cx="6749796"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AAB7D2"/>
                </a:solidFill>
                <a:latin typeface="Space Grotesk" pitchFamily="34" charset="0"/>
                <a:ea typeface="Space Grotesk" pitchFamily="34" charset="-122"/>
                <a:cs typeface="Space Grotesk" pitchFamily="34" charset="-120"/>
              </a:rPr>
              <a:t>Auth, rate-limit, errors.</a:t>
            </a:r>
            <a:endParaRPr lang="en-US" sz="1950" dirty="0"/>
          </a:p>
        </p:txBody>
      </p:sp>
      <p:sp>
        <p:nvSpPr>
          <p:cNvPr id="11" name="Text 8"/>
          <p:cNvSpPr/>
          <p:nvPr/>
        </p:nvSpPr>
        <p:spPr>
          <a:xfrm>
            <a:off x="9410700" y="4400252"/>
            <a:ext cx="1123950"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216" kern="0" dirty="0">
                <a:solidFill>
                  <a:srgbClr val="818CF8"/>
                </a:solidFill>
                <a:latin typeface="JetBrains Mono" pitchFamily="34" charset="0"/>
                <a:ea typeface="JetBrains Mono" pitchFamily="34" charset="-122"/>
                <a:cs typeface="JetBrains Mono" pitchFamily="34" charset="-120"/>
              </a:rPr>
              <a:t>SERVICE</a:t>
            </a:r>
            <a:endParaRPr lang="en-US" sz="1800" dirty="0"/>
          </a:p>
        </p:txBody>
      </p:sp>
      <p:sp>
        <p:nvSpPr>
          <p:cNvPr id="12" name="Text 9"/>
          <p:cNvSpPr/>
          <p:nvPr/>
        </p:nvSpPr>
        <p:spPr>
          <a:xfrm>
            <a:off x="10668000" y="4324052"/>
            <a:ext cx="6749796" cy="395288"/>
          </a:xfrm>
          <a:prstGeom prst="rect">
            <a:avLst/>
          </a:prstGeom>
          <a:noFill/>
          <a:ln/>
        </p:spPr>
        <p:txBody>
          <a:bodyPr wrap="square" lIns="25400" tIns="25400" rIns="25400" bIns="25400" rtlCol="0" anchor="t">
            <a:normAutofit/>
          </a:bodyPr>
          <a:lstStyle/>
          <a:p>
            <a:pPr algn="l" indent="0" marL="0">
              <a:lnSpc>
                <a:spcPct val="125000"/>
              </a:lnSpc>
              <a:buNone/>
            </a:pPr>
            <a:r>
              <a:rPr lang="en-US" sz="2250" b="1" dirty="0">
                <a:solidFill>
                  <a:srgbClr val="E6EDF7"/>
                </a:solidFill>
                <a:latin typeface="Space Grotesk" pitchFamily="34" charset="0"/>
                <a:ea typeface="Space Grotesk" pitchFamily="34" charset="-122"/>
                <a:cs typeface="Space Grotesk" pitchFamily="34" charset="-120"/>
              </a:rPr>
              <a:t>Business logic</a:t>
            </a:r>
            <a:endParaRPr lang="en-US" sz="2250" dirty="0"/>
          </a:p>
        </p:txBody>
      </p:sp>
      <p:sp>
        <p:nvSpPr>
          <p:cNvPr id="13" name="Text 10"/>
          <p:cNvSpPr/>
          <p:nvPr/>
        </p:nvSpPr>
        <p:spPr>
          <a:xfrm>
            <a:off x="10668000" y="4738390"/>
            <a:ext cx="6749796"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AAB7D2"/>
                </a:solidFill>
                <a:latin typeface="Space Grotesk" pitchFamily="34" charset="0"/>
                <a:ea typeface="Space Grotesk" pitchFamily="34" charset="-122"/>
                <a:cs typeface="Space Grotesk" pitchFamily="34" charset="-120"/>
              </a:rPr>
              <a:t>Hashing, tokens, WebAuthn ceremonies.</a:t>
            </a:r>
            <a:endParaRPr lang="en-US" sz="1950" dirty="0"/>
          </a:p>
        </p:txBody>
      </p:sp>
      <p:sp>
        <p:nvSpPr>
          <p:cNvPr id="14" name="Text 11"/>
          <p:cNvSpPr/>
          <p:nvPr/>
        </p:nvSpPr>
        <p:spPr>
          <a:xfrm>
            <a:off x="9410700" y="5389811"/>
            <a:ext cx="1123950"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216" kern="0" dirty="0">
                <a:solidFill>
                  <a:srgbClr val="818CF8"/>
                </a:solidFill>
                <a:latin typeface="JetBrains Mono" pitchFamily="34" charset="0"/>
                <a:ea typeface="JetBrains Mono" pitchFamily="34" charset="-122"/>
                <a:cs typeface="JetBrains Mono" pitchFamily="34" charset="-120"/>
              </a:rPr>
              <a:t>MODEL</a:t>
            </a:r>
            <a:endParaRPr lang="en-US" sz="1800" dirty="0"/>
          </a:p>
        </p:txBody>
      </p:sp>
      <p:sp>
        <p:nvSpPr>
          <p:cNvPr id="15" name="Text 12"/>
          <p:cNvSpPr/>
          <p:nvPr/>
        </p:nvSpPr>
        <p:spPr>
          <a:xfrm>
            <a:off x="10668000" y="5313611"/>
            <a:ext cx="6749796" cy="395288"/>
          </a:xfrm>
          <a:prstGeom prst="rect">
            <a:avLst/>
          </a:prstGeom>
          <a:noFill/>
          <a:ln/>
        </p:spPr>
        <p:txBody>
          <a:bodyPr wrap="square" lIns="25400" tIns="25400" rIns="25400" bIns="25400" rtlCol="0" anchor="t">
            <a:normAutofit/>
          </a:bodyPr>
          <a:lstStyle/>
          <a:p>
            <a:pPr algn="l" indent="0" marL="0">
              <a:lnSpc>
                <a:spcPct val="125000"/>
              </a:lnSpc>
              <a:buNone/>
            </a:pPr>
            <a:r>
              <a:rPr lang="en-US" sz="2250" b="1" dirty="0">
                <a:solidFill>
                  <a:srgbClr val="E6EDF7"/>
                </a:solidFill>
                <a:latin typeface="Space Grotesk" pitchFamily="34" charset="0"/>
                <a:ea typeface="Space Grotesk" pitchFamily="34" charset="-122"/>
                <a:cs typeface="Space Grotesk" pitchFamily="34" charset="-120"/>
              </a:rPr>
              <a:t>One User document</a:t>
            </a:r>
            <a:endParaRPr lang="en-US" sz="2250" dirty="0"/>
          </a:p>
        </p:txBody>
      </p:sp>
      <p:sp>
        <p:nvSpPr>
          <p:cNvPr id="16" name="Text 13"/>
          <p:cNvSpPr/>
          <p:nvPr/>
        </p:nvSpPr>
        <p:spPr>
          <a:xfrm>
            <a:off x="10668000" y="5727948"/>
            <a:ext cx="6749796"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AAB7D2"/>
                </a:solidFill>
                <a:latin typeface="Space Grotesk" pitchFamily="34" charset="0"/>
                <a:ea typeface="Space Grotesk" pitchFamily="34" charset="-122"/>
                <a:cs typeface="Space Grotesk" pitchFamily="34" charset="-120"/>
              </a:rPr>
              <a:t>Password, OAuth IDs, 2FA, passkeys.</a:t>
            </a:r>
            <a:endParaRPr lang="en-US" sz="1950" dirty="0"/>
          </a:p>
        </p:txBody>
      </p:sp>
      <p:sp>
        <p:nvSpPr>
          <p:cNvPr id="17" name="Text 14"/>
          <p:cNvSpPr/>
          <p:nvPr/>
        </p:nvSpPr>
        <p:spPr>
          <a:xfrm>
            <a:off x="9410700" y="6379369"/>
            <a:ext cx="1123950"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spc="216" kern="0" dirty="0">
                <a:solidFill>
                  <a:srgbClr val="818CF8"/>
                </a:solidFill>
                <a:latin typeface="JetBrains Mono" pitchFamily="34" charset="0"/>
                <a:ea typeface="JetBrains Mono" pitchFamily="34" charset="-122"/>
                <a:cs typeface="JetBrains Mono" pitchFamily="34" charset="-120"/>
              </a:rPr>
              <a:t>RULE</a:t>
            </a:r>
            <a:endParaRPr lang="en-US" sz="1800" dirty="0"/>
          </a:p>
        </p:txBody>
      </p:sp>
      <p:sp>
        <p:nvSpPr>
          <p:cNvPr id="18" name="Text 15"/>
          <p:cNvSpPr/>
          <p:nvPr/>
        </p:nvSpPr>
        <p:spPr>
          <a:xfrm>
            <a:off x="10668000" y="6303169"/>
            <a:ext cx="6749796" cy="395288"/>
          </a:xfrm>
          <a:prstGeom prst="rect">
            <a:avLst/>
          </a:prstGeom>
          <a:noFill/>
          <a:ln/>
        </p:spPr>
        <p:txBody>
          <a:bodyPr wrap="square" lIns="25400" tIns="25400" rIns="25400" bIns="25400" rtlCol="0" anchor="t">
            <a:normAutofit/>
          </a:bodyPr>
          <a:lstStyle/>
          <a:p>
            <a:pPr algn="l" indent="0" marL="0">
              <a:lnSpc>
                <a:spcPct val="125000"/>
              </a:lnSpc>
              <a:buNone/>
            </a:pPr>
            <a:r>
              <a:rPr lang="en-US" sz="2250" b="1" dirty="0">
                <a:solidFill>
                  <a:srgbClr val="E6EDF7"/>
                </a:solidFill>
                <a:latin typeface="Space Grotesk" pitchFamily="34" charset="0"/>
                <a:ea typeface="Space Grotesk" pitchFamily="34" charset="-122"/>
                <a:cs typeface="Space Grotesk" pitchFamily="34" charset="-120"/>
              </a:rPr>
              <a:t>Layers only call downward</a:t>
            </a:r>
            <a:endParaRPr lang="en-US" sz="2250" dirty="0"/>
          </a:p>
        </p:txBody>
      </p:sp>
      <p:sp>
        <p:nvSpPr>
          <p:cNvPr id="19" name="Text 16"/>
          <p:cNvSpPr/>
          <p:nvPr/>
        </p:nvSpPr>
        <p:spPr>
          <a:xfrm>
            <a:off x="10668000" y="6717506"/>
            <a:ext cx="6749796"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AAB7D2"/>
                </a:solidFill>
                <a:latin typeface="Space Grotesk" pitchFamily="34" charset="0"/>
                <a:ea typeface="Space Grotesk" pitchFamily="34" charset="-122"/>
                <a:cs typeface="Space Grotesk" pitchFamily="34" charset="-120"/>
              </a:rPr>
              <a:t>Never the reverse.</a:t>
            </a:r>
            <a:endParaRPr lang="en-US" sz="1950" dirty="0"/>
          </a:p>
        </p:txBody>
      </p:sp>
      <p:sp>
        <p:nvSpPr>
          <p:cNvPr id="20" name="Shape 17"/>
          <p:cNvSpPr/>
          <p:nvPr/>
        </p:nvSpPr>
        <p:spPr>
          <a:xfrm>
            <a:off x="1066800" y="9553575"/>
            <a:ext cx="675977" cy="390525"/>
          </a:xfrm>
          <a:prstGeom prst="roundRect">
            <a:avLst>
              <a:gd name="adj" fmla="val 50000"/>
            </a:avLst>
          </a:prstGeom>
          <a:ln w="9525">
            <a:solidFill>
              <a:srgbClr val="94A3B8">
                <a:alpha val="18000"/>
              </a:srgbClr>
            </a:solidFill>
            <a:prstDash val="solid"/>
          </a:ln>
        </p:spPr>
      </p:sp>
      <p:sp>
        <p:nvSpPr>
          <p:cNvPr id="21" name="Text 18"/>
          <p:cNvSpPr/>
          <p:nvPr/>
        </p:nvSpPr>
        <p:spPr>
          <a:xfrm>
            <a:off x="1171575" y="9601200"/>
            <a:ext cx="542627"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AAB7D2"/>
                </a:solidFill>
                <a:latin typeface="JetBrains Mono" pitchFamily="34" charset="0"/>
                <a:ea typeface="JetBrains Mono" pitchFamily="34" charset="-122"/>
                <a:cs typeface="JetBrains Mono" pitchFamily="34" charset="-120"/>
              </a:rPr>
              <a:t>IAM</a:t>
            </a:r>
            <a:endParaRPr lang="en-US" sz="1800" dirty="0"/>
          </a:p>
        </p:txBody>
      </p:sp>
      <p:sp>
        <p:nvSpPr>
          <p:cNvPr id="22" name="Text 19"/>
          <p:cNvSpPr/>
          <p:nvPr/>
        </p:nvSpPr>
        <p:spPr>
          <a:xfrm>
            <a:off x="1876127" y="9601200"/>
            <a:ext cx="1941612"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E7B99"/>
                </a:solidFill>
                <a:latin typeface="JetBrains Mono" pitchFamily="34" charset="0"/>
                <a:ea typeface="JetBrains Mono" pitchFamily="34" charset="-122"/>
                <a:cs typeface="JetBrains Mono" pitchFamily="34" charset="-120"/>
              </a:rPr>
              <a:t>Architecture</a:t>
            </a:r>
            <a:endParaRPr lang="en-US" sz="1800" dirty="0"/>
          </a:p>
        </p:txBody>
      </p:sp>
      <p:sp>
        <p:nvSpPr>
          <p:cNvPr id="23" name="Text 20"/>
          <p:cNvSpPr/>
          <p:nvPr/>
        </p:nvSpPr>
        <p:spPr>
          <a:xfrm>
            <a:off x="16132969" y="960120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E7B99"/>
                </a:solidFill>
                <a:latin typeface="JetBrains Mono" pitchFamily="34" charset="0"/>
                <a:ea typeface="JetBrains Mono" pitchFamily="34" charset="-122"/>
                <a:cs typeface="JetBrains Mono" pitchFamily="34" charset="-120"/>
              </a:rPr>
              <a:t>07 / 11</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1066800" y="914400"/>
            <a:ext cx="16639032" cy="3333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818CF8"/>
                </a:solidFill>
                <a:latin typeface="JetBrains Mono" pitchFamily="34" charset="0"/>
                <a:ea typeface="JetBrains Mono" pitchFamily="34" charset="-122"/>
                <a:cs typeface="JetBrains Mono" pitchFamily="34" charset="-120"/>
              </a:rPr>
              <a:t>ARCHITECTURE </a:t>
            </a:r>
            <a:pPr algn="l" indent="0" marL="0">
              <a:buNone/>
            </a:pPr>
            <a:r>
              <a:rPr lang="en-US" sz="1800" spc="288" kern="0" dirty="0">
                <a:solidFill>
                  <a:srgbClr val="6E7B99"/>
                </a:solidFill>
                <a:latin typeface="JetBrains Mono" pitchFamily="34" charset="0"/>
                <a:ea typeface="JetBrains Mono" pitchFamily="34" charset="-122"/>
                <a:cs typeface="JetBrains Mono" pitchFamily="34" charset="-120"/>
              </a:rPr>
              <a:t>· </a:t>
            </a:r>
            <a:pPr algn="l" indent="0" marL="0">
              <a:buNone/>
            </a:pPr>
            <a:r>
              <a:rPr lang="en-US" sz="1800" spc="288" kern="0" dirty="0">
                <a:solidFill>
                  <a:srgbClr val="818CF8"/>
                </a:solidFill>
                <a:latin typeface="JetBrains Mono" pitchFamily="34" charset="0"/>
                <a:ea typeface="JetBrains Mono" pitchFamily="34" charset="-122"/>
                <a:cs typeface="JetBrains Mono" pitchFamily="34" charset="-120"/>
              </a:rPr>
              <a:t>STACK</a:t>
            </a:r>
            <a:endParaRPr lang="en-US" sz="1800" dirty="0"/>
          </a:p>
        </p:txBody>
      </p:sp>
      <p:sp>
        <p:nvSpPr>
          <p:cNvPr id="3" name="Text 1"/>
          <p:cNvSpPr/>
          <p:nvPr/>
        </p:nvSpPr>
        <p:spPr>
          <a:xfrm>
            <a:off x="1066800" y="1400175"/>
            <a:ext cx="14716125" cy="678061"/>
          </a:xfrm>
          <a:prstGeom prst="rect">
            <a:avLst/>
          </a:prstGeom>
          <a:noFill/>
          <a:ln/>
        </p:spPr>
        <p:txBody>
          <a:bodyPr wrap="square" lIns="25400" tIns="25400" rIns="25400" bIns="25400" rtlCol="0" anchor="t">
            <a:normAutofit/>
          </a:bodyPr>
          <a:lstStyle/>
          <a:p>
            <a:pPr algn="l" indent="0" marL="0">
              <a:lnSpc>
                <a:spcPct val="105000"/>
              </a:lnSpc>
              <a:buNone/>
            </a:pPr>
            <a:r>
              <a:rPr lang="en-US" sz="4800" b="1" spc="-96" kern="0" dirty="0">
                <a:solidFill>
                  <a:srgbClr val="E6EDF7"/>
                </a:solidFill>
                <a:latin typeface="Space Grotesk" pitchFamily="34" charset="0"/>
                <a:ea typeface="Space Grotesk" pitchFamily="34" charset="-122"/>
                <a:cs typeface="Space Grotesk" pitchFamily="34" charset="-120"/>
              </a:rPr>
              <a:t>Tech stack.</a:t>
            </a:r>
            <a:endParaRPr lang="en-US" sz="4800" dirty="0"/>
          </a:p>
        </p:txBody>
      </p:sp>
      <p:sp>
        <p:nvSpPr>
          <p:cNvPr id="4" name="Shape 2"/>
          <p:cNvSpPr/>
          <p:nvPr/>
        </p:nvSpPr>
        <p:spPr>
          <a:xfrm>
            <a:off x="1066800" y="2725936"/>
            <a:ext cx="5206901" cy="2066925"/>
          </a:xfrm>
          <a:prstGeom prst="roundRect">
            <a:avLst>
              <a:gd name="adj" fmla="val 7373"/>
            </a:avLst>
          </a:prstGeom>
          <a:solidFill>
            <a:srgbClr val="131F38"/>
          </a:solidFill>
          <a:ln w="9525">
            <a:solidFill>
              <a:srgbClr val="94A3B8">
                <a:alpha val="18000"/>
              </a:srgbClr>
            </a:solidFill>
            <a:prstDash val="solid"/>
          </a:ln>
        </p:spPr>
      </p:sp>
      <p:sp>
        <p:nvSpPr>
          <p:cNvPr id="5" name="Text 3"/>
          <p:cNvSpPr/>
          <p:nvPr/>
        </p:nvSpPr>
        <p:spPr>
          <a:xfrm>
            <a:off x="1362075" y="3002161"/>
            <a:ext cx="4754841" cy="3333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6E7B99"/>
                </a:solidFill>
                <a:latin typeface="JetBrains Mono" pitchFamily="34" charset="0"/>
                <a:ea typeface="JetBrains Mono" pitchFamily="34" charset="-122"/>
                <a:cs typeface="JetBrains Mono" pitchFamily="34" charset="-120"/>
              </a:rPr>
              <a:t>FRONTEND</a:t>
            </a:r>
            <a:endParaRPr lang="en-US" sz="1800" dirty="0"/>
          </a:p>
        </p:txBody>
      </p:sp>
      <p:sp>
        <p:nvSpPr>
          <p:cNvPr id="6" name="Text 4"/>
          <p:cNvSpPr/>
          <p:nvPr/>
        </p:nvSpPr>
        <p:spPr>
          <a:xfrm>
            <a:off x="1362075" y="3373636"/>
            <a:ext cx="4754841" cy="495300"/>
          </a:xfrm>
          <a:prstGeom prst="rect">
            <a:avLst/>
          </a:prstGeom>
          <a:noFill/>
          <a:ln/>
        </p:spPr>
        <p:txBody>
          <a:bodyPr wrap="square" lIns="25400" tIns="25400" rIns="25400" bIns="25400" rtlCol="0" anchor="t">
            <a:normAutofit/>
          </a:bodyPr>
          <a:lstStyle/>
          <a:p>
            <a:pPr algn="l" indent="0" marL="0">
              <a:buNone/>
            </a:pPr>
            <a:r>
              <a:rPr lang="en-US" sz="2850" b="1" spc="-29" kern="0" dirty="0">
                <a:solidFill>
                  <a:srgbClr val="E6EDF7"/>
                </a:solidFill>
                <a:latin typeface="Space Grotesk" pitchFamily="34" charset="0"/>
                <a:ea typeface="Space Grotesk" pitchFamily="34" charset="-122"/>
                <a:cs typeface="Space Grotesk" pitchFamily="34" charset="-120"/>
              </a:rPr>
              <a:t>React + Vite</a:t>
            </a:r>
            <a:endParaRPr lang="en-US" sz="2850" dirty="0"/>
          </a:p>
        </p:txBody>
      </p:sp>
      <p:sp>
        <p:nvSpPr>
          <p:cNvPr id="7" name="Text 5"/>
          <p:cNvSpPr/>
          <p:nvPr/>
        </p:nvSpPr>
        <p:spPr>
          <a:xfrm>
            <a:off x="1362075" y="3926086"/>
            <a:ext cx="4754841" cy="628650"/>
          </a:xfrm>
          <a:prstGeom prst="rect">
            <a:avLst/>
          </a:prstGeom>
          <a:noFill/>
          <a:ln/>
        </p:spPr>
        <p:txBody>
          <a:bodyPr wrap="square" lIns="25400" tIns="25400" rIns="25400" bIns="25400" rtlCol="0" anchor="t">
            <a:normAutofit/>
          </a:bodyPr>
          <a:lstStyle/>
          <a:p>
            <a:pPr algn="l" indent="0" marL="0">
              <a:buNone/>
            </a:pPr>
            <a:r>
              <a:rPr lang="en-US" sz="1800" dirty="0">
                <a:solidFill>
                  <a:srgbClr val="AAB7D2"/>
                </a:solidFill>
                <a:latin typeface="Space Grotesk" pitchFamily="34" charset="0"/>
                <a:ea typeface="Space Grotesk" pitchFamily="34" charset="-122"/>
                <a:cs typeface="Space Grotesk" pitchFamily="34" charset="-120"/>
              </a:rPr>
              <a:t>SPA with in-memory access token, cookie-based session.</a:t>
            </a:r>
            <a:endParaRPr lang="en-US" sz="1800" dirty="0"/>
          </a:p>
        </p:txBody>
      </p:sp>
      <p:sp>
        <p:nvSpPr>
          <p:cNvPr id="8" name="Shape 6"/>
          <p:cNvSpPr/>
          <p:nvPr/>
        </p:nvSpPr>
        <p:spPr>
          <a:xfrm>
            <a:off x="6540401" y="2725936"/>
            <a:ext cx="5207050" cy="2066925"/>
          </a:xfrm>
          <a:prstGeom prst="roundRect">
            <a:avLst>
              <a:gd name="adj" fmla="val 7373"/>
            </a:avLst>
          </a:prstGeom>
          <a:solidFill>
            <a:srgbClr val="131F38"/>
          </a:solidFill>
          <a:ln w="9525">
            <a:solidFill>
              <a:srgbClr val="94A3B8">
                <a:alpha val="18000"/>
              </a:srgbClr>
            </a:solidFill>
            <a:prstDash val="solid"/>
          </a:ln>
        </p:spPr>
      </p:sp>
      <p:sp>
        <p:nvSpPr>
          <p:cNvPr id="9" name="Text 7"/>
          <p:cNvSpPr/>
          <p:nvPr/>
        </p:nvSpPr>
        <p:spPr>
          <a:xfrm>
            <a:off x="6835676" y="3002161"/>
            <a:ext cx="4754995" cy="3333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6E7B99"/>
                </a:solidFill>
                <a:latin typeface="JetBrains Mono" pitchFamily="34" charset="0"/>
                <a:ea typeface="JetBrains Mono" pitchFamily="34" charset="-122"/>
                <a:cs typeface="JetBrains Mono" pitchFamily="34" charset="-120"/>
              </a:rPr>
              <a:t>BACKEND</a:t>
            </a:r>
            <a:endParaRPr lang="en-US" sz="1800" dirty="0"/>
          </a:p>
        </p:txBody>
      </p:sp>
      <p:sp>
        <p:nvSpPr>
          <p:cNvPr id="10" name="Text 8"/>
          <p:cNvSpPr/>
          <p:nvPr/>
        </p:nvSpPr>
        <p:spPr>
          <a:xfrm>
            <a:off x="6835676" y="3373636"/>
            <a:ext cx="4754995" cy="495300"/>
          </a:xfrm>
          <a:prstGeom prst="rect">
            <a:avLst/>
          </a:prstGeom>
          <a:noFill/>
          <a:ln/>
        </p:spPr>
        <p:txBody>
          <a:bodyPr wrap="square" lIns="25400" tIns="25400" rIns="25400" bIns="25400" rtlCol="0" anchor="t">
            <a:normAutofit/>
          </a:bodyPr>
          <a:lstStyle/>
          <a:p>
            <a:pPr algn="l" indent="0" marL="0">
              <a:buNone/>
            </a:pPr>
            <a:r>
              <a:rPr lang="en-US" sz="2850" b="1" spc="-29" kern="0" dirty="0">
                <a:solidFill>
                  <a:srgbClr val="E6EDF7"/>
                </a:solidFill>
                <a:latin typeface="Space Grotesk" pitchFamily="34" charset="0"/>
                <a:ea typeface="Space Grotesk" pitchFamily="34" charset="-122"/>
                <a:cs typeface="Space Grotesk" pitchFamily="34" charset="-120"/>
              </a:rPr>
              <a:t>Node + Express</a:t>
            </a:r>
            <a:endParaRPr lang="en-US" sz="2850" dirty="0"/>
          </a:p>
        </p:txBody>
      </p:sp>
      <p:sp>
        <p:nvSpPr>
          <p:cNvPr id="11" name="Text 9"/>
          <p:cNvSpPr/>
          <p:nvPr/>
        </p:nvSpPr>
        <p:spPr>
          <a:xfrm>
            <a:off x="6835676" y="3926086"/>
            <a:ext cx="4754995" cy="628650"/>
          </a:xfrm>
          <a:prstGeom prst="rect">
            <a:avLst/>
          </a:prstGeom>
          <a:noFill/>
          <a:ln/>
        </p:spPr>
        <p:txBody>
          <a:bodyPr wrap="square" lIns="25400" tIns="25400" rIns="25400" bIns="25400" rtlCol="0" anchor="t">
            <a:normAutofit/>
          </a:bodyPr>
          <a:lstStyle/>
          <a:p>
            <a:pPr algn="l" indent="0" marL="0">
              <a:buNone/>
            </a:pPr>
            <a:r>
              <a:rPr lang="en-US" sz="1800" dirty="0">
                <a:solidFill>
                  <a:srgbClr val="AAB7D2"/>
                </a:solidFill>
                <a:latin typeface="Space Grotesk" pitchFamily="34" charset="0"/>
                <a:ea typeface="Space Grotesk" pitchFamily="34" charset="-122"/>
                <a:cs typeface="Space Grotesk" pitchFamily="34" charset="-120"/>
              </a:rPr>
              <a:t>Layered routes / middleware / services / model.</a:t>
            </a:r>
            <a:endParaRPr lang="en-US" sz="1800" dirty="0"/>
          </a:p>
        </p:txBody>
      </p:sp>
      <p:sp>
        <p:nvSpPr>
          <p:cNvPr id="12" name="Shape 10"/>
          <p:cNvSpPr/>
          <p:nvPr/>
        </p:nvSpPr>
        <p:spPr>
          <a:xfrm>
            <a:off x="12014150" y="2725936"/>
            <a:ext cx="5207050" cy="2066925"/>
          </a:xfrm>
          <a:prstGeom prst="roundRect">
            <a:avLst>
              <a:gd name="adj" fmla="val 7373"/>
            </a:avLst>
          </a:prstGeom>
          <a:solidFill>
            <a:srgbClr val="131F38"/>
          </a:solidFill>
          <a:ln w="9525">
            <a:solidFill>
              <a:srgbClr val="94A3B8">
                <a:alpha val="18000"/>
              </a:srgbClr>
            </a:solidFill>
            <a:prstDash val="solid"/>
          </a:ln>
        </p:spPr>
      </p:sp>
      <p:sp>
        <p:nvSpPr>
          <p:cNvPr id="13" name="Text 11"/>
          <p:cNvSpPr/>
          <p:nvPr/>
        </p:nvSpPr>
        <p:spPr>
          <a:xfrm>
            <a:off x="12309425" y="3002161"/>
            <a:ext cx="4754995" cy="3333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6E7B99"/>
                </a:solidFill>
                <a:latin typeface="JetBrains Mono" pitchFamily="34" charset="0"/>
                <a:ea typeface="JetBrains Mono" pitchFamily="34" charset="-122"/>
                <a:cs typeface="JetBrains Mono" pitchFamily="34" charset="-120"/>
              </a:rPr>
              <a:t>DATABASE</a:t>
            </a:r>
            <a:endParaRPr lang="en-US" sz="1800" dirty="0"/>
          </a:p>
        </p:txBody>
      </p:sp>
      <p:sp>
        <p:nvSpPr>
          <p:cNvPr id="14" name="Text 12"/>
          <p:cNvSpPr/>
          <p:nvPr/>
        </p:nvSpPr>
        <p:spPr>
          <a:xfrm>
            <a:off x="12309425" y="3373636"/>
            <a:ext cx="4754995" cy="495300"/>
          </a:xfrm>
          <a:prstGeom prst="rect">
            <a:avLst/>
          </a:prstGeom>
          <a:noFill/>
          <a:ln/>
        </p:spPr>
        <p:txBody>
          <a:bodyPr wrap="square" lIns="25400" tIns="25400" rIns="25400" bIns="25400" rtlCol="0" anchor="t">
            <a:normAutofit/>
          </a:bodyPr>
          <a:lstStyle/>
          <a:p>
            <a:pPr algn="l" indent="0" marL="0">
              <a:buNone/>
            </a:pPr>
            <a:r>
              <a:rPr lang="en-US" sz="2850" b="1" spc="-29" kern="0" dirty="0">
                <a:solidFill>
                  <a:srgbClr val="E6EDF7"/>
                </a:solidFill>
                <a:latin typeface="Space Grotesk" pitchFamily="34" charset="0"/>
                <a:ea typeface="Space Grotesk" pitchFamily="34" charset="-122"/>
                <a:cs typeface="Space Grotesk" pitchFamily="34" charset="-120"/>
              </a:rPr>
              <a:t>MongoDB Atlas</a:t>
            </a:r>
            <a:endParaRPr lang="en-US" sz="2850" dirty="0"/>
          </a:p>
        </p:txBody>
      </p:sp>
      <p:sp>
        <p:nvSpPr>
          <p:cNvPr id="15" name="Text 13"/>
          <p:cNvSpPr/>
          <p:nvPr/>
        </p:nvSpPr>
        <p:spPr>
          <a:xfrm>
            <a:off x="12309425" y="3926086"/>
            <a:ext cx="4754995" cy="628650"/>
          </a:xfrm>
          <a:prstGeom prst="rect">
            <a:avLst/>
          </a:prstGeom>
          <a:noFill/>
          <a:ln/>
        </p:spPr>
        <p:txBody>
          <a:bodyPr wrap="square" lIns="25400" tIns="25400" rIns="25400" bIns="25400" rtlCol="0" anchor="t">
            <a:normAutofit/>
          </a:bodyPr>
          <a:lstStyle/>
          <a:p>
            <a:pPr algn="l" indent="0" marL="0">
              <a:buNone/>
            </a:pPr>
            <a:r>
              <a:rPr lang="en-US" sz="1800" dirty="0">
                <a:solidFill>
                  <a:srgbClr val="AAB7D2"/>
                </a:solidFill>
                <a:latin typeface="Space Grotesk" pitchFamily="34" charset="0"/>
                <a:ea typeface="Space Grotesk" pitchFamily="34" charset="-122"/>
                <a:cs typeface="Space Grotesk" pitchFamily="34" charset="-120"/>
              </a:rPr>
              <a:t>One User collection, Mongoose schema, refresh-token store.</a:t>
            </a:r>
            <a:endParaRPr lang="en-US" sz="1800" dirty="0"/>
          </a:p>
        </p:txBody>
      </p:sp>
      <p:sp>
        <p:nvSpPr>
          <p:cNvPr id="16" name="Shape 14"/>
          <p:cNvSpPr/>
          <p:nvPr/>
        </p:nvSpPr>
        <p:spPr>
          <a:xfrm>
            <a:off x="1066800" y="5059561"/>
            <a:ext cx="5206901" cy="2066925"/>
          </a:xfrm>
          <a:prstGeom prst="roundRect">
            <a:avLst>
              <a:gd name="adj" fmla="val 7373"/>
            </a:avLst>
          </a:prstGeom>
          <a:solidFill>
            <a:srgbClr val="131F38"/>
          </a:solidFill>
          <a:ln w="9525">
            <a:solidFill>
              <a:srgbClr val="94A3B8">
                <a:alpha val="18000"/>
              </a:srgbClr>
            </a:solidFill>
            <a:prstDash val="solid"/>
          </a:ln>
        </p:spPr>
      </p:sp>
      <p:sp>
        <p:nvSpPr>
          <p:cNvPr id="17" name="Text 15"/>
          <p:cNvSpPr/>
          <p:nvPr/>
        </p:nvSpPr>
        <p:spPr>
          <a:xfrm>
            <a:off x="1362075" y="5335786"/>
            <a:ext cx="4754841" cy="3333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6E7B99"/>
                </a:solidFill>
                <a:latin typeface="JetBrains Mono" pitchFamily="34" charset="0"/>
                <a:ea typeface="JetBrains Mono" pitchFamily="34" charset="-122"/>
                <a:cs typeface="JetBrains Mono" pitchFamily="34" charset="-120"/>
              </a:rPr>
              <a:t>OAUTH</a:t>
            </a:r>
            <a:endParaRPr lang="en-US" sz="1800" dirty="0"/>
          </a:p>
        </p:txBody>
      </p:sp>
      <p:sp>
        <p:nvSpPr>
          <p:cNvPr id="18" name="Text 16"/>
          <p:cNvSpPr/>
          <p:nvPr/>
        </p:nvSpPr>
        <p:spPr>
          <a:xfrm>
            <a:off x="1362075" y="5707261"/>
            <a:ext cx="4754841" cy="495300"/>
          </a:xfrm>
          <a:prstGeom prst="rect">
            <a:avLst/>
          </a:prstGeom>
          <a:noFill/>
          <a:ln/>
        </p:spPr>
        <p:txBody>
          <a:bodyPr wrap="square" lIns="25400" tIns="25400" rIns="25400" bIns="25400" rtlCol="0" anchor="t">
            <a:normAutofit/>
          </a:bodyPr>
          <a:lstStyle/>
          <a:p>
            <a:pPr algn="l" indent="0" marL="0">
              <a:buNone/>
            </a:pPr>
            <a:r>
              <a:rPr lang="en-US" sz="2850" b="1" spc="-29" kern="0" dirty="0">
                <a:solidFill>
                  <a:srgbClr val="E6EDF7"/>
                </a:solidFill>
                <a:latin typeface="Space Grotesk" pitchFamily="34" charset="0"/>
                <a:ea typeface="Space Grotesk" pitchFamily="34" charset="-122"/>
                <a:cs typeface="Space Grotesk" pitchFamily="34" charset="-120"/>
              </a:rPr>
              <a:t>Passport.js</a:t>
            </a:r>
            <a:endParaRPr lang="en-US" sz="2850" dirty="0"/>
          </a:p>
        </p:txBody>
      </p:sp>
      <p:sp>
        <p:nvSpPr>
          <p:cNvPr id="19" name="Text 17"/>
          <p:cNvSpPr/>
          <p:nvPr/>
        </p:nvSpPr>
        <p:spPr>
          <a:xfrm>
            <a:off x="1362075" y="6259711"/>
            <a:ext cx="4754841" cy="628650"/>
          </a:xfrm>
          <a:prstGeom prst="rect">
            <a:avLst/>
          </a:prstGeom>
          <a:noFill/>
          <a:ln/>
        </p:spPr>
        <p:txBody>
          <a:bodyPr wrap="square" lIns="25400" tIns="25400" rIns="25400" bIns="25400" rtlCol="0" anchor="t">
            <a:normAutofit/>
          </a:bodyPr>
          <a:lstStyle/>
          <a:p>
            <a:pPr algn="l" indent="0" marL="0">
              <a:buNone/>
            </a:pPr>
            <a:r>
              <a:rPr lang="en-US" sz="1800" dirty="0">
                <a:solidFill>
                  <a:srgbClr val="AAB7D2"/>
                </a:solidFill>
                <a:latin typeface="Space Grotesk" pitchFamily="34" charset="0"/>
                <a:ea typeface="Space Grotesk" pitchFamily="34" charset="-122"/>
                <a:cs typeface="Space Grotesk" pitchFamily="34" charset="-120"/>
              </a:rPr>
              <a:t>Google &amp; GitHub strategies, account linking by email.</a:t>
            </a:r>
            <a:endParaRPr lang="en-US" sz="1800" dirty="0"/>
          </a:p>
        </p:txBody>
      </p:sp>
      <p:sp>
        <p:nvSpPr>
          <p:cNvPr id="20" name="Shape 18"/>
          <p:cNvSpPr/>
          <p:nvPr/>
        </p:nvSpPr>
        <p:spPr>
          <a:xfrm>
            <a:off x="6540401" y="5059561"/>
            <a:ext cx="5207050" cy="2066925"/>
          </a:xfrm>
          <a:prstGeom prst="roundRect">
            <a:avLst>
              <a:gd name="adj" fmla="val 7373"/>
            </a:avLst>
          </a:prstGeom>
          <a:solidFill>
            <a:srgbClr val="131F38"/>
          </a:solidFill>
          <a:ln w="9525">
            <a:solidFill>
              <a:srgbClr val="94A3B8">
                <a:alpha val="18000"/>
              </a:srgbClr>
            </a:solidFill>
            <a:prstDash val="solid"/>
          </a:ln>
        </p:spPr>
      </p:sp>
      <p:sp>
        <p:nvSpPr>
          <p:cNvPr id="21" name="Text 19"/>
          <p:cNvSpPr/>
          <p:nvPr/>
        </p:nvSpPr>
        <p:spPr>
          <a:xfrm>
            <a:off x="6835676" y="5335786"/>
            <a:ext cx="4754995" cy="3333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6E7B99"/>
                </a:solidFill>
                <a:latin typeface="JetBrains Mono" pitchFamily="34" charset="0"/>
                <a:ea typeface="JetBrains Mono" pitchFamily="34" charset="-122"/>
                <a:cs typeface="JetBrains Mono" pitchFamily="34" charset="-120"/>
              </a:rPr>
              <a:t>TOKENS</a:t>
            </a:r>
            <a:endParaRPr lang="en-US" sz="1800" dirty="0"/>
          </a:p>
        </p:txBody>
      </p:sp>
      <p:sp>
        <p:nvSpPr>
          <p:cNvPr id="22" name="Text 20"/>
          <p:cNvSpPr/>
          <p:nvPr/>
        </p:nvSpPr>
        <p:spPr>
          <a:xfrm>
            <a:off x="6835676" y="5707261"/>
            <a:ext cx="4754995" cy="495300"/>
          </a:xfrm>
          <a:prstGeom prst="rect">
            <a:avLst/>
          </a:prstGeom>
          <a:noFill/>
          <a:ln/>
        </p:spPr>
        <p:txBody>
          <a:bodyPr wrap="square" lIns="25400" tIns="25400" rIns="25400" bIns="25400" rtlCol="0" anchor="t">
            <a:normAutofit/>
          </a:bodyPr>
          <a:lstStyle/>
          <a:p>
            <a:pPr algn="l" indent="0" marL="0">
              <a:buNone/>
            </a:pPr>
            <a:r>
              <a:rPr lang="en-US" sz="2850" b="1" spc="-29" kern="0" dirty="0">
                <a:solidFill>
                  <a:srgbClr val="E6EDF7"/>
                </a:solidFill>
                <a:latin typeface="Space Grotesk" pitchFamily="34" charset="0"/>
                <a:ea typeface="Space Grotesk" pitchFamily="34" charset="-122"/>
                <a:cs typeface="Space Grotesk" pitchFamily="34" charset="-120"/>
              </a:rPr>
              <a:t>jsonwebtoken</a:t>
            </a:r>
            <a:endParaRPr lang="en-US" sz="2850" dirty="0"/>
          </a:p>
        </p:txBody>
      </p:sp>
      <p:sp>
        <p:nvSpPr>
          <p:cNvPr id="23" name="Text 21"/>
          <p:cNvSpPr/>
          <p:nvPr/>
        </p:nvSpPr>
        <p:spPr>
          <a:xfrm>
            <a:off x="6835676" y="6259711"/>
            <a:ext cx="4754995" cy="628650"/>
          </a:xfrm>
          <a:prstGeom prst="rect">
            <a:avLst/>
          </a:prstGeom>
          <a:noFill/>
          <a:ln/>
        </p:spPr>
        <p:txBody>
          <a:bodyPr wrap="square" lIns="25400" tIns="25400" rIns="25400" bIns="25400" rtlCol="0" anchor="t">
            <a:normAutofit/>
          </a:bodyPr>
          <a:lstStyle/>
          <a:p>
            <a:pPr algn="l" indent="0" marL="0">
              <a:buNone/>
            </a:pPr>
            <a:r>
              <a:rPr lang="en-US" sz="1800" dirty="0">
                <a:solidFill>
                  <a:srgbClr val="AAB7D2"/>
                </a:solidFill>
                <a:latin typeface="Space Grotesk" pitchFamily="34" charset="0"/>
                <a:ea typeface="Space Grotesk" pitchFamily="34" charset="-122"/>
                <a:cs typeface="Space Grotesk" pitchFamily="34" charset="-120"/>
              </a:rPr>
              <a:t>HS256 signing, short-lived access, rotating refresh.</a:t>
            </a:r>
            <a:endParaRPr lang="en-US" sz="1800" dirty="0"/>
          </a:p>
        </p:txBody>
      </p:sp>
      <p:sp>
        <p:nvSpPr>
          <p:cNvPr id="24" name="Shape 22"/>
          <p:cNvSpPr/>
          <p:nvPr/>
        </p:nvSpPr>
        <p:spPr>
          <a:xfrm>
            <a:off x="12014150" y="5059561"/>
            <a:ext cx="5207050" cy="2066925"/>
          </a:xfrm>
          <a:prstGeom prst="roundRect">
            <a:avLst>
              <a:gd name="adj" fmla="val 7373"/>
            </a:avLst>
          </a:prstGeom>
          <a:solidFill>
            <a:srgbClr val="131F38"/>
          </a:solidFill>
          <a:ln w="9525">
            <a:solidFill>
              <a:srgbClr val="94A3B8">
                <a:alpha val="18000"/>
              </a:srgbClr>
            </a:solidFill>
            <a:prstDash val="solid"/>
          </a:ln>
        </p:spPr>
      </p:sp>
      <p:sp>
        <p:nvSpPr>
          <p:cNvPr id="25" name="Text 23"/>
          <p:cNvSpPr/>
          <p:nvPr/>
        </p:nvSpPr>
        <p:spPr>
          <a:xfrm>
            <a:off x="12309425" y="5335786"/>
            <a:ext cx="4754995" cy="3333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6E7B99"/>
                </a:solidFill>
                <a:latin typeface="JetBrains Mono" pitchFamily="34" charset="0"/>
                <a:ea typeface="JetBrains Mono" pitchFamily="34" charset="-122"/>
                <a:cs typeface="JetBrains Mono" pitchFamily="34" charset="-120"/>
              </a:rPr>
              <a:t>PASSKEYS</a:t>
            </a:r>
            <a:endParaRPr lang="en-US" sz="1800" dirty="0"/>
          </a:p>
        </p:txBody>
      </p:sp>
      <p:sp>
        <p:nvSpPr>
          <p:cNvPr id="26" name="Text 24"/>
          <p:cNvSpPr/>
          <p:nvPr/>
        </p:nvSpPr>
        <p:spPr>
          <a:xfrm>
            <a:off x="12309425" y="5707261"/>
            <a:ext cx="4754995" cy="495300"/>
          </a:xfrm>
          <a:prstGeom prst="rect">
            <a:avLst/>
          </a:prstGeom>
          <a:noFill/>
          <a:ln/>
        </p:spPr>
        <p:txBody>
          <a:bodyPr wrap="square" lIns="25400" tIns="25400" rIns="25400" bIns="25400" rtlCol="0" anchor="t">
            <a:normAutofit/>
          </a:bodyPr>
          <a:lstStyle/>
          <a:p>
            <a:pPr algn="l" indent="0" marL="0">
              <a:buNone/>
            </a:pPr>
            <a:r>
              <a:rPr lang="en-US" sz="2850" b="1" spc="-29" kern="0" dirty="0">
                <a:solidFill>
                  <a:srgbClr val="E6EDF7"/>
                </a:solidFill>
                <a:latin typeface="Space Grotesk" pitchFamily="34" charset="0"/>
                <a:ea typeface="Space Grotesk" pitchFamily="34" charset="-122"/>
                <a:cs typeface="Space Grotesk" pitchFamily="34" charset="-120"/>
              </a:rPr>
              <a:t>SimpleWebAuthn</a:t>
            </a:r>
            <a:endParaRPr lang="en-US" sz="2850" dirty="0"/>
          </a:p>
        </p:txBody>
      </p:sp>
      <p:sp>
        <p:nvSpPr>
          <p:cNvPr id="27" name="Text 25"/>
          <p:cNvSpPr/>
          <p:nvPr/>
        </p:nvSpPr>
        <p:spPr>
          <a:xfrm>
            <a:off x="12309425" y="6259711"/>
            <a:ext cx="4754995" cy="628650"/>
          </a:xfrm>
          <a:prstGeom prst="rect">
            <a:avLst/>
          </a:prstGeom>
          <a:noFill/>
          <a:ln/>
        </p:spPr>
        <p:txBody>
          <a:bodyPr wrap="square" lIns="25400" tIns="25400" rIns="25400" bIns="25400" rtlCol="0" anchor="t">
            <a:normAutofit/>
          </a:bodyPr>
          <a:lstStyle/>
          <a:p>
            <a:pPr algn="l" indent="0" marL="0">
              <a:buNone/>
            </a:pPr>
            <a:r>
              <a:rPr lang="en-US" sz="1800" dirty="0">
                <a:solidFill>
                  <a:srgbClr val="AAB7D2"/>
                </a:solidFill>
                <a:latin typeface="Space Grotesk" pitchFamily="34" charset="0"/>
                <a:ea typeface="Space Grotesk" pitchFamily="34" charset="-122"/>
                <a:cs typeface="Space Grotesk" pitchFamily="34" charset="-120"/>
              </a:rPr>
              <a:t>Browser + server libraries for WebAuthn ceremonies.</a:t>
            </a:r>
            <a:endParaRPr lang="en-US" sz="1800" dirty="0"/>
          </a:p>
        </p:txBody>
      </p:sp>
      <p:sp>
        <p:nvSpPr>
          <p:cNvPr id="28" name="Shape 26"/>
          <p:cNvSpPr/>
          <p:nvPr/>
        </p:nvSpPr>
        <p:spPr>
          <a:xfrm>
            <a:off x="1066800" y="7393186"/>
            <a:ext cx="5206901" cy="2066925"/>
          </a:xfrm>
          <a:prstGeom prst="roundRect">
            <a:avLst>
              <a:gd name="adj" fmla="val 7373"/>
            </a:avLst>
          </a:prstGeom>
          <a:solidFill>
            <a:srgbClr val="131F38"/>
          </a:solidFill>
          <a:ln w="9525">
            <a:solidFill>
              <a:srgbClr val="94A3B8">
                <a:alpha val="18000"/>
              </a:srgbClr>
            </a:solidFill>
            <a:prstDash val="solid"/>
          </a:ln>
        </p:spPr>
      </p:sp>
      <p:sp>
        <p:nvSpPr>
          <p:cNvPr id="29" name="Text 27"/>
          <p:cNvSpPr/>
          <p:nvPr/>
        </p:nvSpPr>
        <p:spPr>
          <a:xfrm>
            <a:off x="1362075" y="7669411"/>
            <a:ext cx="4754841" cy="3333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6E7B99"/>
                </a:solidFill>
                <a:latin typeface="JetBrains Mono" pitchFamily="34" charset="0"/>
                <a:ea typeface="JetBrains Mono" pitchFamily="34" charset="-122"/>
                <a:cs typeface="JetBrains Mono" pitchFamily="34" charset="-120"/>
              </a:rPr>
              <a:t>HASHING</a:t>
            </a:r>
            <a:endParaRPr lang="en-US" sz="1800" dirty="0"/>
          </a:p>
        </p:txBody>
      </p:sp>
      <p:sp>
        <p:nvSpPr>
          <p:cNvPr id="30" name="Text 28"/>
          <p:cNvSpPr/>
          <p:nvPr/>
        </p:nvSpPr>
        <p:spPr>
          <a:xfrm>
            <a:off x="1362075" y="8040886"/>
            <a:ext cx="4754841" cy="495300"/>
          </a:xfrm>
          <a:prstGeom prst="rect">
            <a:avLst/>
          </a:prstGeom>
          <a:noFill/>
          <a:ln/>
        </p:spPr>
        <p:txBody>
          <a:bodyPr wrap="square" lIns="25400" tIns="25400" rIns="25400" bIns="25400" rtlCol="0" anchor="t">
            <a:normAutofit/>
          </a:bodyPr>
          <a:lstStyle/>
          <a:p>
            <a:pPr algn="l" indent="0" marL="0">
              <a:buNone/>
            </a:pPr>
            <a:r>
              <a:rPr lang="en-US" sz="2850" b="1" spc="-29" kern="0" dirty="0">
                <a:solidFill>
                  <a:srgbClr val="E6EDF7"/>
                </a:solidFill>
                <a:latin typeface="Space Grotesk" pitchFamily="34" charset="0"/>
                <a:ea typeface="Space Grotesk" pitchFamily="34" charset="-122"/>
                <a:cs typeface="Space Grotesk" pitchFamily="34" charset="-120"/>
              </a:rPr>
              <a:t>argon2</a:t>
            </a:r>
            <a:endParaRPr lang="en-US" sz="2850" dirty="0"/>
          </a:p>
        </p:txBody>
      </p:sp>
      <p:sp>
        <p:nvSpPr>
          <p:cNvPr id="31" name="Text 29"/>
          <p:cNvSpPr/>
          <p:nvPr/>
        </p:nvSpPr>
        <p:spPr>
          <a:xfrm>
            <a:off x="1362075" y="8593336"/>
            <a:ext cx="4754841" cy="628650"/>
          </a:xfrm>
          <a:prstGeom prst="rect">
            <a:avLst/>
          </a:prstGeom>
          <a:noFill/>
          <a:ln/>
        </p:spPr>
        <p:txBody>
          <a:bodyPr wrap="square" lIns="25400" tIns="25400" rIns="25400" bIns="25400" rtlCol="0" anchor="t">
            <a:normAutofit/>
          </a:bodyPr>
          <a:lstStyle/>
          <a:p>
            <a:pPr algn="l" indent="0" marL="0">
              <a:buNone/>
            </a:pPr>
            <a:r>
              <a:rPr lang="en-US" sz="1800" dirty="0">
                <a:solidFill>
                  <a:srgbClr val="AAB7D2"/>
                </a:solidFill>
                <a:latin typeface="Space Grotesk" pitchFamily="34" charset="0"/>
                <a:ea typeface="Space Grotesk" pitchFamily="34" charset="-122"/>
                <a:cs typeface="Space Grotesk" pitchFamily="34" charset="-120"/>
              </a:rPr>
              <a:t>Argon2id, OWASP params: 64 MB · timeCost 3 · parallelism 1.</a:t>
            </a:r>
            <a:endParaRPr lang="en-US" sz="1800" dirty="0"/>
          </a:p>
        </p:txBody>
      </p:sp>
      <p:sp>
        <p:nvSpPr>
          <p:cNvPr id="32" name="Shape 30"/>
          <p:cNvSpPr/>
          <p:nvPr/>
        </p:nvSpPr>
        <p:spPr>
          <a:xfrm>
            <a:off x="6540401" y="7393186"/>
            <a:ext cx="5207050" cy="2066925"/>
          </a:xfrm>
          <a:prstGeom prst="roundRect">
            <a:avLst>
              <a:gd name="adj" fmla="val 7373"/>
            </a:avLst>
          </a:prstGeom>
          <a:solidFill>
            <a:srgbClr val="131F38"/>
          </a:solidFill>
          <a:ln w="9525">
            <a:solidFill>
              <a:srgbClr val="94A3B8">
                <a:alpha val="18000"/>
              </a:srgbClr>
            </a:solidFill>
            <a:prstDash val="solid"/>
          </a:ln>
        </p:spPr>
      </p:sp>
      <p:sp>
        <p:nvSpPr>
          <p:cNvPr id="33" name="Text 31"/>
          <p:cNvSpPr/>
          <p:nvPr/>
        </p:nvSpPr>
        <p:spPr>
          <a:xfrm>
            <a:off x="6835676" y="7669411"/>
            <a:ext cx="4754995" cy="3333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6E7B99"/>
                </a:solidFill>
                <a:latin typeface="JetBrains Mono" pitchFamily="34" charset="0"/>
                <a:ea typeface="JetBrains Mono" pitchFamily="34" charset="-122"/>
                <a:cs typeface="JetBrains Mono" pitchFamily="34" charset="-120"/>
              </a:rPr>
              <a:t>2FA</a:t>
            </a:r>
            <a:endParaRPr lang="en-US" sz="1800" dirty="0"/>
          </a:p>
        </p:txBody>
      </p:sp>
      <p:sp>
        <p:nvSpPr>
          <p:cNvPr id="34" name="Text 32"/>
          <p:cNvSpPr/>
          <p:nvPr/>
        </p:nvSpPr>
        <p:spPr>
          <a:xfrm>
            <a:off x="6835676" y="8040886"/>
            <a:ext cx="4754995" cy="495300"/>
          </a:xfrm>
          <a:prstGeom prst="rect">
            <a:avLst/>
          </a:prstGeom>
          <a:noFill/>
          <a:ln/>
        </p:spPr>
        <p:txBody>
          <a:bodyPr wrap="square" lIns="25400" tIns="25400" rIns="25400" bIns="25400" rtlCol="0" anchor="t">
            <a:normAutofit/>
          </a:bodyPr>
          <a:lstStyle/>
          <a:p>
            <a:pPr algn="l" indent="0" marL="0">
              <a:buNone/>
            </a:pPr>
            <a:r>
              <a:rPr lang="en-US" sz="2850" b="1" spc="-29" kern="0" dirty="0">
                <a:solidFill>
                  <a:srgbClr val="E6EDF7"/>
                </a:solidFill>
                <a:latin typeface="Space Grotesk" pitchFamily="34" charset="0"/>
                <a:ea typeface="Space Grotesk" pitchFamily="34" charset="-122"/>
                <a:cs typeface="Space Grotesk" pitchFamily="34" charset="-120"/>
              </a:rPr>
              <a:t>speakeasy + qrcode</a:t>
            </a:r>
            <a:endParaRPr lang="en-US" sz="2850" dirty="0"/>
          </a:p>
        </p:txBody>
      </p:sp>
      <p:sp>
        <p:nvSpPr>
          <p:cNvPr id="35" name="Text 33"/>
          <p:cNvSpPr/>
          <p:nvPr/>
        </p:nvSpPr>
        <p:spPr>
          <a:xfrm>
            <a:off x="6835676" y="8593336"/>
            <a:ext cx="4754995" cy="628650"/>
          </a:xfrm>
          <a:prstGeom prst="rect">
            <a:avLst/>
          </a:prstGeom>
          <a:noFill/>
          <a:ln/>
        </p:spPr>
        <p:txBody>
          <a:bodyPr wrap="square" lIns="25400" tIns="25400" rIns="25400" bIns="25400" rtlCol="0" anchor="t">
            <a:normAutofit/>
          </a:bodyPr>
          <a:lstStyle/>
          <a:p>
            <a:pPr algn="l" indent="0" marL="0">
              <a:buNone/>
            </a:pPr>
            <a:r>
              <a:rPr lang="en-US" sz="1800" dirty="0">
                <a:solidFill>
                  <a:srgbClr val="AAB7D2"/>
                </a:solidFill>
                <a:latin typeface="Space Grotesk" pitchFamily="34" charset="0"/>
                <a:ea typeface="Space Grotesk" pitchFamily="34" charset="-122"/>
                <a:cs typeface="Space Grotesk" pitchFamily="34" charset="-120"/>
              </a:rPr>
              <a:t>TOTP secret, QR enrollment, hashed backup codes.</a:t>
            </a:r>
            <a:endParaRPr lang="en-US" sz="1800" dirty="0"/>
          </a:p>
        </p:txBody>
      </p:sp>
      <p:sp>
        <p:nvSpPr>
          <p:cNvPr id="36" name="Shape 34"/>
          <p:cNvSpPr/>
          <p:nvPr/>
        </p:nvSpPr>
        <p:spPr>
          <a:xfrm>
            <a:off x="12014150" y="7393186"/>
            <a:ext cx="5207050" cy="2066925"/>
          </a:xfrm>
          <a:prstGeom prst="roundRect">
            <a:avLst>
              <a:gd name="adj" fmla="val 7373"/>
            </a:avLst>
          </a:prstGeom>
          <a:solidFill>
            <a:srgbClr val="131F38"/>
          </a:solidFill>
          <a:ln w="9525">
            <a:solidFill>
              <a:srgbClr val="94A3B8">
                <a:alpha val="18000"/>
              </a:srgbClr>
            </a:solidFill>
            <a:prstDash val="solid"/>
          </a:ln>
        </p:spPr>
      </p:sp>
      <p:sp>
        <p:nvSpPr>
          <p:cNvPr id="37" name="Text 35"/>
          <p:cNvSpPr/>
          <p:nvPr/>
        </p:nvSpPr>
        <p:spPr>
          <a:xfrm>
            <a:off x="12309425" y="7669411"/>
            <a:ext cx="4754995" cy="3333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6E7B99"/>
                </a:solidFill>
                <a:latin typeface="JetBrains Mono" pitchFamily="34" charset="0"/>
                <a:ea typeface="JetBrains Mono" pitchFamily="34" charset="-122"/>
                <a:cs typeface="JetBrains Mono" pitchFamily="34" charset="-120"/>
              </a:rPr>
              <a:t>VALIDATION</a:t>
            </a:r>
            <a:endParaRPr lang="en-US" sz="1800" dirty="0"/>
          </a:p>
        </p:txBody>
      </p:sp>
      <p:sp>
        <p:nvSpPr>
          <p:cNvPr id="38" name="Text 36"/>
          <p:cNvSpPr/>
          <p:nvPr/>
        </p:nvSpPr>
        <p:spPr>
          <a:xfrm>
            <a:off x="12309425" y="8040886"/>
            <a:ext cx="4754995" cy="495300"/>
          </a:xfrm>
          <a:prstGeom prst="rect">
            <a:avLst/>
          </a:prstGeom>
          <a:noFill/>
          <a:ln/>
        </p:spPr>
        <p:txBody>
          <a:bodyPr wrap="square" lIns="25400" tIns="25400" rIns="25400" bIns="25400" rtlCol="0" anchor="t">
            <a:normAutofit/>
          </a:bodyPr>
          <a:lstStyle/>
          <a:p>
            <a:pPr algn="l" indent="0" marL="0">
              <a:buNone/>
            </a:pPr>
            <a:r>
              <a:rPr lang="en-US" sz="2850" b="1" spc="-29" kern="0" dirty="0">
                <a:solidFill>
                  <a:srgbClr val="E6EDF7"/>
                </a:solidFill>
                <a:latin typeface="Space Grotesk" pitchFamily="34" charset="0"/>
                <a:ea typeface="Space Grotesk" pitchFamily="34" charset="-122"/>
                <a:cs typeface="Space Grotesk" pitchFamily="34" charset="-120"/>
              </a:rPr>
              <a:t>Zod + helmet</a:t>
            </a:r>
            <a:endParaRPr lang="en-US" sz="2850" dirty="0"/>
          </a:p>
        </p:txBody>
      </p:sp>
      <p:sp>
        <p:nvSpPr>
          <p:cNvPr id="39" name="Text 37"/>
          <p:cNvSpPr/>
          <p:nvPr/>
        </p:nvSpPr>
        <p:spPr>
          <a:xfrm>
            <a:off x="12309425" y="8593336"/>
            <a:ext cx="4754995" cy="628650"/>
          </a:xfrm>
          <a:prstGeom prst="rect">
            <a:avLst/>
          </a:prstGeom>
          <a:noFill/>
          <a:ln/>
        </p:spPr>
        <p:txBody>
          <a:bodyPr wrap="square" lIns="25400" tIns="25400" rIns="25400" bIns="25400" rtlCol="0" anchor="t">
            <a:normAutofit/>
          </a:bodyPr>
          <a:lstStyle/>
          <a:p>
            <a:pPr algn="l" indent="0" marL="0">
              <a:buNone/>
            </a:pPr>
            <a:r>
              <a:rPr lang="en-US" sz="1800" dirty="0">
                <a:solidFill>
                  <a:srgbClr val="AAB7D2"/>
                </a:solidFill>
                <a:latin typeface="Space Grotesk" pitchFamily="34" charset="0"/>
                <a:ea typeface="Space Grotesk" pitchFamily="34" charset="-122"/>
                <a:cs typeface="Space Grotesk" pitchFamily="34" charset="-120"/>
              </a:rPr>
              <a:t>Schema-validated input, sane HTTP defaults.</a:t>
            </a:r>
            <a:endParaRPr lang="en-US" sz="1800" dirty="0"/>
          </a:p>
        </p:txBody>
      </p:sp>
      <p:sp>
        <p:nvSpPr>
          <p:cNvPr id="40" name="Shape 38"/>
          <p:cNvSpPr/>
          <p:nvPr/>
        </p:nvSpPr>
        <p:spPr>
          <a:xfrm>
            <a:off x="1066800" y="9553575"/>
            <a:ext cx="675977" cy="390525"/>
          </a:xfrm>
          <a:prstGeom prst="roundRect">
            <a:avLst>
              <a:gd name="adj" fmla="val 50000"/>
            </a:avLst>
          </a:prstGeom>
          <a:ln w="9525">
            <a:solidFill>
              <a:srgbClr val="94A3B8">
                <a:alpha val="18000"/>
              </a:srgbClr>
            </a:solidFill>
            <a:prstDash val="solid"/>
          </a:ln>
        </p:spPr>
      </p:sp>
      <p:sp>
        <p:nvSpPr>
          <p:cNvPr id="41" name="Text 39"/>
          <p:cNvSpPr/>
          <p:nvPr/>
        </p:nvSpPr>
        <p:spPr>
          <a:xfrm>
            <a:off x="1171575" y="9601200"/>
            <a:ext cx="542627"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AAB7D2"/>
                </a:solidFill>
                <a:latin typeface="JetBrains Mono" pitchFamily="34" charset="0"/>
                <a:ea typeface="JetBrains Mono" pitchFamily="34" charset="-122"/>
                <a:cs typeface="JetBrains Mono" pitchFamily="34" charset="-120"/>
              </a:rPr>
              <a:t>IAM</a:t>
            </a:r>
            <a:endParaRPr lang="en-US" sz="1800" dirty="0"/>
          </a:p>
        </p:txBody>
      </p:sp>
      <p:sp>
        <p:nvSpPr>
          <p:cNvPr id="42" name="Text 40"/>
          <p:cNvSpPr/>
          <p:nvPr/>
        </p:nvSpPr>
        <p:spPr>
          <a:xfrm>
            <a:off x="1876127" y="9601200"/>
            <a:ext cx="853529"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E7B99"/>
                </a:solidFill>
                <a:latin typeface="JetBrains Mono" pitchFamily="34" charset="0"/>
                <a:ea typeface="JetBrains Mono" pitchFamily="34" charset="-122"/>
                <a:cs typeface="JetBrains Mono" pitchFamily="34" charset="-120"/>
              </a:rPr>
              <a:t>Stack</a:t>
            </a:r>
            <a:endParaRPr lang="en-US" sz="1800" dirty="0"/>
          </a:p>
        </p:txBody>
      </p:sp>
      <p:sp>
        <p:nvSpPr>
          <p:cNvPr id="43" name="Text 41"/>
          <p:cNvSpPr/>
          <p:nvPr/>
        </p:nvSpPr>
        <p:spPr>
          <a:xfrm>
            <a:off x="16132969" y="960120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E7B99"/>
                </a:solidFill>
                <a:latin typeface="JetBrains Mono" pitchFamily="34" charset="0"/>
                <a:ea typeface="JetBrains Mono" pitchFamily="34" charset="-122"/>
                <a:cs typeface="JetBrains Mono" pitchFamily="34" charset="-120"/>
              </a:rPr>
              <a:t>08 / 11</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1066800" y="914400"/>
            <a:ext cx="16639032" cy="3333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818CF8"/>
                </a:solidFill>
                <a:latin typeface="JetBrains Mono" pitchFamily="34" charset="0"/>
                <a:ea typeface="JetBrains Mono" pitchFamily="34" charset="-122"/>
                <a:cs typeface="JetBrains Mono" pitchFamily="34" charset="-120"/>
              </a:rPr>
              <a:t>DEMO </a:t>
            </a:r>
            <a:pPr algn="l" indent="0" marL="0">
              <a:buNone/>
            </a:pPr>
            <a:r>
              <a:rPr lang="en-US" sz="1800" spc="288" kern="0" dirty="0">
                <a:solidFill>
                  <a:srgbClr val="6E7B99"/>
                </a:solidFill>
                <a:latin typeface="JetBrains Mono" pitchFamily="34" charset="0"/>
                <a:ea typeface="JetBrains Mono" pitchFamily="34" charset="-122"/>
                <a:cs typeface="JetBrains Mono" pitchFamily="34" charset="-120"/>
              </a:rPr>
              <a:t>· </a:t>
            </a:r>
            <a:pPr algn="l" indent="0" marL="0">
              <a:buNone/>
            </a:pPr>
            <a:r>
              <a:rPr lang="en-US" sz="1800" spc="288" kern="0" dirty="0">
                <a:solidFill>
                  <a:srgbClr val="818CF8"/>
                </a:solidFill>
                <a:latin typeface="JetBrains Mono" pitchFamily="34" charset="0"/>
                <a:ea typeface="JetBrains Mono" pitchFamily="34" charset="-122"/>
                <a:cs typeface="JetBrains Mono" pitchFamily="34" charset="-120"/>
              </a:rPr>
              <a:t>WHAT YOU'LL SEE</a:t>
            </a:r>
            <a:endParaRPr lang="en-US" sz="1800" dirty="0"/>
          </a:p>
        </p:txBody>
      </p:sp>
      <p:sp>
        <p:nvSpPr>
          <p:cNvPr id="3" name="Text 1"/>
          <p:cNvSpPr/>
          <p:nvPr/>
        </p:nvSpPr>
        <p:spPr>
          <a:xfrm>
            <a:off x="1066800" y="1400175"/>
            <a:ext cx="14716125" cy="678061"/>
          </a:xfrm>
          <a:prstGeom prst="rect">
            <a:avLst/>
          </a:prstGeom>
          <a:noFill/>
          <a:ln/>
        </p:spPr>
        <p:txBody>
          <a:bodyPr wrap="square" lIns="25400" tIns="25400" rIns="25400" bIns="25400" rtlCol="0" anchor="t">
            <a:normAutofit/>
          </a:bodyPr>
          <a:lstStyle/>
          <a:p>
            <a:pPr algn="l" indent="0" marL="0">
              <a:lnSpc>
                <a:spcPct val="105000"/>
              </a:lnSpc>
              <a:buNone/>
            </a:pPr>
            <a:r>
              <a:rPr lang="en-US" sz="4800" b="1" spc="-96" kern="0" dirty="0">
                <a:solidFill>
                  <a:srgbClr val="E6EDF7"/>
                </a:solidFill>
                <a:latin typeface="Space Grotesk" pitchFamily="34" charset="0"/>
                <a:ea typeface="Space Grotesk" pitchFamily="34" charset="-122"/>
                <a:cs typeface="Space Grotesk" pitchFamily="34" charset="-120"/>
              </a:rPr>
              <a:t>Live demo — six things, in order.</a:t>
            </a:r>
            <a:endParaRPr lang="en-US" sz="4800" dirty="0"/>
          </a:p>
        </p:txBody>
      </p:sp>
      <p:sp>
        <p:nvSpPr>
          <p:cNvPr id="4" name="Text 2"/>
          <p:cNvSpPr/>
          <p:nvPr/>
        </p:nvSpPr>
        <p:spPr>
          <a:xfrm>
            <a:off x="1066800" y="2821186"/>
            <a:ext cx="685800" cy="381000"/>
          </a:xfrm>
          <a:prstGeom prst="rect">
            <a:avLst/>
          </a:prstGeom>
          <a:noFill/>
          <a:ln/>
        </p:spPr>
        <p:txBody>
          <a:bodyPr wrap="square" lIns="25400" tIns="25400" rIns="25400" bIns="25400" rtlCol="0" anchor="t">
            <a:normAutofit/>
          </a:bodyPr>
          <a:lstStyle/>
          <a:p>
            <a:pPr algn="l" indent="0" marL="0">
              <a:lnSpc>
                <a:spcPct val="100000"/>
              </a:lnSpc>
              <a:buNone/>
            </a:pPr>
            <a:r>
              <a:rPr lang="en-US" sz="2700" dirty="0">
                <a:solidFill>
                  <a:srgbClr val="818CF8"/>
                </a:solidFill>
                <a:latin typeface="JetBrains Mono" pitchFamily="34" charset="0"/>
                <a:ea typeface="JetBrains Mono" pitchFamily="34" charset="-122"/>
                <a:cs typeface="JetBrains Mono" pitchFamily="34" charset="-120"/>
              </a:rPr>
              <a:t>01</a:t>
            </a:r>
            <a:endParaRPr lang="en-US" sz="2700" dirty="0"/>
          </a:p>
        </p:txBody>
      </p:sp>
      <p:sp>
        <p:nvSpPr>
          <p:cNvPr id="5" name="Text 3"/>
          <p:cNvSpPr/>
          <p:nvPr/>
        </p:nvSpPr>
        <p:spPr>
          <a:xfrm>
            <a:off x="1866900" y="2821186"/>
            <a:ext cx="7220712" cy="381000"/>
          </a:xfrm>
          <a:prstGeom prst="rect">
            <a:avLst/>
          </a:prstGeom>
          <a:noFill/>
          <a:ln/>
        </p:spPr>
        <p:txBody>
          <a:bodyPr wrap="square" lIns="25400" tIns="25400" rIns="25400" bIns="25400" rtlCol="0" anchor="t">
            <a:normAutofit/>
          </a:bodyPr>
          <a:lstStyle/>
          <a:p>
            <a:pPr algn="l" indent="0" marL="0">
              <a:lnSpc>
                <a:spcPct val="120000"/>
              </a:lnSpc>
              <a:buNone/>
            </a:pPr>
            <a:r>
              <a:rPr lang="en-US" sz="2250" b="1" dirty="0">
                <a:solidFill>
                  <a:srgbClr val="E6EDF7"/>
                </a:solidFill>
                <a:latin typeface="Space Grotesk" pitchFamily="34" charset="0"/>
                <a:ea typeface="Space Grotesk" pitchFamily="34" charset="-122"/>
                <a:cs typeface="Space Grotesk" pitchFamily="34" charset="-120"/>
              </a:rPr>
              <a:t>Register &amp; inspect Argon2 hash</a:t>
            </a:r>
            <a:endParaRPr lang="en-US" sz="2250" dirty="0"/>
          </a:p>
        </p:txBody>
      </p:sp>
      <p:sp>
        <p:nvSpPr>
          <p:cNvPr id="6" name="Text 4"/>
          <p:cNvSpPr/>
          <p:nvPr/>
        </p:nvSpPr>
        <p:spPr>
          <a:xfrm>
            <a:off x="1866900" y="3221236"/>
            <a:ext cx="7220712" cy="67806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AAB7D2"/>
                </a:solidFill>
                <a:latin typeface="Space Grotesk" pitchFamily="34" charset="0"/>
                <a:ea typeface="Space Grotesk" pitchFamily="34" charset="-122"/>
                <a:cs typeface="Space Grotesk" pitchFamily="34" charset="-120"/>
              </a:rPr>
              <a:t>New account, then read the </a:t>
            </a:r>
            <a:pPr algn="l" indent="0" marL="0">
              <a:lnSpc>
                <a:spcPct val="140000"/>
              </a:lnSpc>
              <a:buNone/>
            </a:pPr>
            <a:r>
              <a:rPr lang="en-US" sz="1800" dirty="0">
                <a:solidFill>
                  <a:srgbClr val="818CF8"/>
                </a:solidFill>
                <a:highlight>
                  <a:srgbClr val="818CF8"/>
                </a:highlight>
                <a:latin typeface="JetBrains Mono" pitchFamily="34" charset="0"/>
                <a:ea typeface="JetBrains Mono" pitchFamily="34" charset="-122"/>
                <a:cs typeface="JetBrains Mono" pitchFamily="34" charset="-120"/>
              </a:rPr>
              <a:t>passwordHash </a:t>
            </a:r>
            <a:pPr algn="l" indent="0" marL="0">
              <a:lnSpc>
                <a:spcPct val="140000"/>
              </a:lnSpc>
              <a:buNone/>
            </a:pPr>
            <a:r>
              <a:rPr lang="en-US" sz="1800" dirty="0">
                <a:solidFill>
                  <a:srgbClr val="AAB7D2"/>
                </a:solidFill>
                <a:latin typeface="Space Grotesk" pitchFamily="34" charset="0"/>
                <a:ea typeface="Space Grotesk" pitchFamily="34" charset="-122"/>
                <a:cs typeface="Space Grotesk" pitchFamily="34" charset="-120"/>
              </a:rPr>
              <a:t>field straight from Atlas.</a:t>
            </a:r>
            <a:endParaRPr lang="en-US" sz="1800" dirty="0"/>
          </a:p>
        </p:txBody>
      </p:sp>
      <p:sp>
        <p:nvSpPr>
          <p:cNvPr id="7" name="Text 5"/>
          <p:cNvSpPr/>
          <p:nvPr/>
        </p:nvSpPr>
        <p:spPr>
          <a:xfrm>
            <a:off x="9410700" y="2821186"/>
            <a:ext cx="685800" cy="381000"/>
          </a:xfrm>
          <a:prstGeom prst="rect">
            <a:avLst/>
          </a:prstGeom>
          <a:noFill/>
          <a:ln/>
        </p:spPr>
        <p:txBody>
          <a:bodyPr wrap="square" lIns="25400" tIns="25400" rIns="25400" bIns="25400" rtlCol="0" anchor="t">
            <a:normAutofit/>
          </a:bodyPr>
          <a:lstStyle/>
          <a:p>
            <a:pPr algn="l" indent="0" marL="0">
              <a:lnSpc>
                <a:spcPct val="100000"/>
              </a:lnSpc>
              <a:buNone/>
            </a:pPr>
            <a:r>
              <a:rPr lang="en-US" sz="2700" dirty="0">
                <a:solidFill>
                  <a:srgbClr val="818CF8"/>
                </a:solidFill>
                <a:latin typeface="JetBrains Mono" pitchFamily="34" charset="0"/>
                <a:ea typeface="JetBrains Mono" pitchFamily="34" charset="-122"/>
                <a:cs typeface="JetBrains Mono" pitchFamily="34" charset="-120"/>
              </a:rPr>
              <a:t>02</a:t>
            </a:r>
            <a:endParaRPr lang="en-US" sz="2700" dirty="0"/>
          </a:p>
        </p:txBody>
      </p:sp>
      <p:sp>
        <p:nvSpPr>
          <p:cNvPr id="8" name="Text 6"/>
          <p:cNvSpPr/>
          <p:nvPr/>
        </p:nvSpPr>
        <p:spPr>
          <a:xfrm>
            <a:off x="10210800" y="2821186"/>
            <a:ext cx="7220712" cy="381000"/>
          </a:xfrm>
          <a:prstGeom prst="rect">
            <a:avLst/>
          </a:prstGeom>
          <a:noFill/>
          <a:ln/>
        </p:spPr>
        <p:txBody>
          <a:bodyPr wrap="square" lIns="25400" tIns="25400" rIns="25400" bIns="25400" rtlCol="0" anchor="t">
            <a:normAutofit/>
          </a:bodyPr>
          <a:lstStyle/>
          <a:p>
            <a:pPr algn="l" indent="0" marL="0">
              <a:lnSpc>
                <a:spcPct val="120000"/>
              </a:lnSpc>
              <a:buNone/>
            </a:pPr>
            <a:r>
              <a:rPr lang="en-US" sz="2250" b="1" dirty="0">
                <a:solidFill>
                  <a:srgbClr val="E6EDF7"/>
                </a:solidFill>
                <a:latin typeface="Space Grotesk" pitchFamily="34" charset="0"/>
                <a:ea typeface="Space Grotesk" pitchFamily="34" charset="-122"/>
                <a:cs typeface="Space Grotesk" pitchFamily="34" charset="-120"/>
              </a:rPr>
              <a:t>Login &amp; inspect the JWT</a:t>
            </a:r>
            <a:endParaRPr lang="en-US" sz="2250" dirty="0"/>
          </a:p>
        </p:txBody>
      </p:sp>
      <p:sp>
        <p:nvSpPr>
          <p:cNvPr id="9" name="Text 7"/>
          <p:cNvSpPr/>
          <p:nvPr/>
        </p:nvSpPr>
        <p:spPr>
          <a:xfrm>
            <a:off x="10210800" y="3221236"/>
            <a:ext cx="7220712"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AAB7D2"/>
                </a:solidFill>
                <a:latin typeface="Space Grotesk" pitchFamily="34" charset="0"/>
                <a:ea typeface="Space Grotesk" pitchFamily="34" charset="-122"/>
                <a:cs typeface="Space Grotesk" pitchFamily="34" charset="-120"/>
              </a:rPr>
              <a:t>DevTools → decode header / payload / signature on jwt.io.</a:t>
            </a:r>
            <a:endParaRPr lang="en-US" sz="1800" dirty="0"/>
          </a:p>
        </p:txBody>
      </p:sp>
      <p:sp>
        <p:nvSpPr>
          <p:cNvPr id="10" name="Shape 8"/>
          <p:cNvSpPr/>
          <p:nvPr/>
        </p:nvSpPr>
        <p:spPr>
          <a:xfrm>
            <a:off x="1066800" y="4261247"/>
            <a:ext cx="7810500" cy="9525"/>
          </a:xfrm>
          <a:prstGeom prst="rect">
            <a:avLst/>
          </a:prstGeom>
          <a:solidFill>
            <a:srgbClr val="94A3B8">
              <a:alpha val="10000"/>
            </a:srgbClr>
          </a:solidFill>
          <a:ln/>
        </p:spPr>
      </p:sp>
      <p:sp>
        <p:nvSpPr>
          <p:cNvPr id="11" name="Text 9"/>
          <p:cNvSpPr/>
          <p:nvPr/>
        </p:nvSpPr>
        <p:spPr>
          <a:xfrm>
            <a:off x="1066800" y="4442222"/>
            <a:ext cx="685800" cy="381000"/>
          </a:xfrm>
          <a:prstGeom prst="rect">
            <a:avLst/>
          </a:prstGeom>
          <a:noFill/>
          <a:ln/>
        </p:spPr>
        <p:txBody>
          <a:bodyPr wrap="square" lIns="25400" tIns="25400" rIns="25400" bIns="25400" rtlCol="0" anchor="t">
            <a:normAutofit/>
          </a:bodyPr>
          <a:lstStyle/>
          <a:p>
            <a:pPr algn="l" indent="0" marL="0">
              <a:lnSpc>
                <a:spcPct val="100000"/>
              </a:lnSpc>
              <a:buNone/>
            </a:pPr>
            <a:r>
              <a:rPr lang="en-US" sz="2700" dirty="0">
                <a:solidFill>
                  <a:srgbClr val="818CF8"/>
                </a:solidFill>
                <a:latin typeface="JetBrains Mono" pitchFamily="34" charset="0"/>
                <a:ea typeface="JetBrains Mono" pitchFamily="34" charset="-122"/>
                <a:cs typeface="JetBrains Mono" pitchFamily="34" charset="-120"/>
              </a:rPr>
              <a:t>03</a:t>
            </a:r>
            <a:endParaRPr lang="en-US" sz="2700" dirty="0"/>
          </a:p>
        </p:txBody>
      </p:sp>
      <p:sp>
        <p:nvSpPr>
          <p:cNvPr id="12" name="Text 10"/>
          <p:cNvSpPr/>
          <p:nvPr/>
        </p:nvSpPr>
        <p:spPr>
          <a:xfrm>
            <a:off x="1866900" y="4442222"/>
            <a:ext cx="7220712" cy="381000"/>
          </a:xfrm>
          <a:prstGeom prst="rect">
            <a:avLst/>
          </a:prstGeom>
          <a:noFill/>
          <a:ln/>
        </p:spPr>
        <p:txBody>
          <a:bodyPr wrap="square" lIns="25400" tIns="25400" rIns="25400" bIns="25400" rtlCol="0" anchor="t">
            <a:normAutofit/>
          </a:bodyPr>
          <a:lstStyle/>
          <a:p>
            <a:pPr algn="l" indent="0" marL="0">
              <a:lnSpc>
                <a:spcPct val="120000"/>
              </a:lnSpc>
              <a:buNone/>
            </a:pPr>
            <a:r>
              <a:rPr lang="en-US" sz="2250" b="1" dirty="0">
                <a:solidFill>
                  <a:srgbClr val="E6EDF7"/>
                </a:solidFill>
                <a:latin typeface="Space Grotesk" pitchFamily="34" charset="0"/>
                <a:ea typeface="Space Grotesk" pitchFamily="34" charset="-122"/>
                <a:cs typeface="Space Grotesk" pitchFamily="34" charset="-120"/>
              </a:rPr>
              <a:t>Enable 2FA · use a backup code</a:t>
            </a:r>
            <a:endParaRPr lang="en-US" sz="2250" dirty="0"/>
          </a:p>
        </p:txBody>
      </p:sp>
      <p:sp>
        <p:nvSpPr>
          <p:cNvPr id="13" name="Text 11"/>
          <p:cNvSpPr/>
          <p:nvPr/>
        </p:nvSpPr>
        <p:spPr>
          <a:xfrm>
            <a:off x="1866900" y="4842272"/>
            <a:ext cx="7220712" cy="67806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AAB7D2"/>
                </a:solidFill>
                <a:latin typeface="Space Grotesk" pitchFamily="34" charset="0"/>
                <a:ea typeface="Space Grotesk" pitchFamily="34" charset="-122"/>
                <a:cs typeface="Space Grotesk" pitchFamily="34" charset="-120"/>
              </a:rPr>
              <a:t>QR enroll in an authenticator, then redeem one hashed backup code.</a:t>
            </a:r>
            <a:endParaRPr lang="en-US" sz="1800" dirty="0"/>
          </a:p>
        </p:txBody>
      </p:sp>
      <p:sp>
        <p:nvSpPr>
          <p:cNvPr id="14" name="Shape 12"/>
          <p:cNvSpPr/>
          <p:nvPr/>
        </p:nvSpPr>
        <p:spPr>
          <a:xfrm>
            <a:off x="9410700" y="4261247"/>
            <a:ext cx="7810500" cy="9525"/>
          </a:xfrm>
          <a:prstGeom prst="rect">
            <a:avLst/>
          </a:prstGeom>
          <a:solidFill>
            <a:srgbClr val="94A3B8">
              <a:alpha val="10000"/>
            </a:srgbClr>
          </a:solidFill>
          <a:ln/>
        </p:spPr>
      </p:sp>
      <p:sp>
        <p:nvSpPr>
          <p:cNvPr id="15" name="Text 13"/>
          <p:cNvSpPr/>
          <p:nvPr/>
        </p:nvSpPr>
        <p:spPr>
          <a:xfrm>
            <a:off x="9410700" y="4442222"/>
            <a:ext cx="685800" cy="381000"/>
          </a:xfrm>
          <a:prstGeom prst="rect">
            <a:avLst/>
          </a:prstGeom>
          <a:noFill/>
          <a:ln/>
        </p:spPr>
        <p:txBody>
          <a:bodyPr wrap="square" lIns="25400" tIns="25400" rIns="25400" bIns="25400" rtlCol="0" anchor="t">
            <a:normAutofit/>
          </a:bodyPr>
          <a:lstStyle/>
          <a:p>
            <a:pPr algn="l" indent="0" marL="0">
              <a:lnSpc>
                <a:spcPct val="100000"/>
              </a:lnSpc>
              <a:buNone/>
            </a:pPr>
            <a:r>
              <a:rPr lang="en-US" sz="2700" dirty="0">
                <a:solidFill>
                  <a:srgbClr val="818CF8"/>
                </a:solidFill>
                <a:latin typeface="JetBrains Mono" pitchFamily="34" charset="0"/>
                <a:ea typeface="JetBrains Mono" pitchFamily="34" charset="-122"/>
                <a:cs typeface="JetBrains Mono" pitchFamily="34" charset="-120"/>
              </a:rPr>
              <a:t>04</a:t>
            </a:r>
            <a:endParaRPr lang="en-US" sz="2700" dirty="0"/>
          </a:p>
        </p:txBody>
      </p:sp>
      <p:sp>
        <p:nvSpPr>
          <p:cNvPr id="16" name="Text 14"/>
          <p:cNvSpPr/>
          <p:nvPr/>
        </p:nvSpPr>
        <p:spPr>
          <a:xfrm>
            <a:off x="10210800" y="4442222"/>
            <a:ext cx="7220712" cy="381000"/>
          </a:xfrm>
          <a:prstGeom prst="rect">
            <a:avLst/>
          </a:prstGeom>
          <a:noFill/>
          <a:ln/>
        </p:spPr>
        <p:txBody>
          <a:bodyPr wrap="square" lIns="25400" tIns="25400" rIns="25400" bIns="25400" rtlCol="0" anchor="t">
            <a:normAutofit/>
          </a:bodyPr>
          <a:lstStyle/>
          <a:p>
            <a:pPr algn="l" indent="0" marL="0">
              <a:lnSpc>
                <a:spcPct val="120000"/>
              </a:lnSpc>
              <a:buNone/>
            </a:pPr>
            <a:r>
              <a:rPr lang="en-US" sz="2250" b="1" dirty="0">
                <a:solidFill>
                  <a:srgbClr val="E6EDF7"/>
                </a:solidFill>
                <a:latin typeface="Space Grotesk" pitchFamily="34" charset="0"/>
                <a:ea typeface="Space Grotesk" pitchFamily="34" charset="-122"/>
                <a:cs typeface="Space Grotesk" pitchFamily="34" charset="-120"/>
              </a:rPr>
              <a:t>Sign in with Google / GitHub</a:t>
            </a:r>
            <a:endParaRPr lang="en-US" sz="2250" dirty="0"/>
          </a:p>
        </p:txBody>
      </p:sp>
      <p:sp>
        <p:nvSpPr>
          <p:cNvPr id="17" name="Text 15"/>
          <p:cNvSpPr/>
          <p:nvPr/>
        </p:nvSpPr>
        <p:spPr>
          <a:xfrm>
            <a:off x="10210800" y="4842272"/>
            <a:ext cx="7220712"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AAB7D2"/>
                </a:solidFill>
                <a:latin typeface="Space Grotesk" pitchFamily="34" charset="0"/>
                <a:ea typeface="Space Grotesk" pitchFamily="34" charset="-122"/>
                <a:cs typeface="Space Grotesk" pitchFamily="34" charset="-120"/>
              </a:rPr>
              <a:t>Show the same account being linked from a second provider.</a:t>
            </a:r>
            <a:endParaRPr lang="en-US" sz="1800" dirty="0"/>
          </a:p>
        </p:txBody>
      </p:sp>
      <p:sp>
        <p:nvSpPr>
          <p:cNvPr id="18" name="Shape 16"/>
          <p:cNvSpPr/>
          <p:nvPr/>
        </p:nvSpPr>
        <p:spPr>
          <a:xfrm>
            <a:off x="1066800" y="5882283"/>
            <a:ext cx="7810500" cy="9525"/>
          </a:xfrm>
          <a:prstGeom prst="rect">
            <a:avLst/>
          </a:prstGeom>
          <a:solidFill>
            <a:srgbClr val="94A3B8">
              <a:alpha val="10000"/>
            </a:srgbClr>
          </a:solidFill>
          <a:ln/>
        </p:spPr>
      </p:sp>
      <p:sp>
        <p:nvSpPr>
          <p:cNvPr id="19" name="Text 17"/>
          <p:cNvSpPr/>
          <p:nvPr/>
        </p:nvSpPr>
        <p:spPr>
          <a:xfrm>
            <a:off x="1066800" y="6063258"/>
            <a:ext cx="685800" cy="381000"/>
          </a:xfrm>
          <a:prstGeom prst="rect">
            <a:avLst/>
          </a:prstGeom>
          <a:noFill/>
          <a:ln/>
        </p:spPr>
        <p:txBody>
          <a:bodyPr wrap="square" lIns="25400" tIns="25400" rIns="25400" bIns="25400" rtlCol="0" anchor="t">
            <a:normAutofit/>
          </a:bodyPr>
          <a:lstStyle/>
          <a:p>
            <a:pPr algn="l" indent="0" marL="0">
              <a:lnSpc>
                <a:spcPct val="100000"/>
              </a:lnSpc>
              <a:buNone/>
            </a:pPr>
            <a:r>
              <a:rPr lang="en-US" sz="2700" dirty="0">
                <a:solidFill>
                  <a:srgbClr val="818CF8"/>
                </a:solidFill>
                <a:latin typeface="JetBrains Mono" pitchFamily="34" charset="0"/>
                <a:ea typeface="JetBrains Mono" pitchFamily="34" charset="-122"/>
                <a:cs typeface="JetBrains Mono" pitchFamily="34" charset="-120"/>
              </a:rPr>
              <a:t>05</a:t>
            </a:r>
            <a:endParaRPr lang="en-US" sz="2700" dirty="0"/>
          </a:p>
        </p:txBody>
      </p:sp>
      <p:sp>
        <p:nvSpPr>
          <p:cNvPr id="20" name="Text 18"/>
          <p:cNvSpPr/>
          <p:nvPr/>
        </p:nvSpPr>
        <p:spPr>
          <a:xfrm>
            <a:off x="1866900" y="6063258"/>
            <a:ext cx="7220712" cy="381000"/>
          </a:xfrm>
          <a:prstGeom prst="rect">
            <a:avLst/>
          </a:prstGeom>
          <a:noFill/>
          <a:ln/>
        </p:spPr>
        <p:txBody>
          <a:bodyPr wrap="square" lIns="25400" tIns="25400" rIns="25400" bIns="25400" rtlCol="0" anchor="t">
            <a:normAutofit/>
          </a:bodyPr>
          <a:lstStyle/>
          <a:p>
            <a:pPr algn="l" indent="0" marL="0">
              <a:lnSpc>
                <a:spcPct val="120000"/>
              </a:lnSpc>
              <a:buNone/>
            </a:pPr>
            <a:r>
              <a:rPr lang="en-US" sz="2250" b="1" dirty="0">
                <a:solidFill>
                  <a:srgbClr val="E6EDF7"/>
                </a:solidFill>
                <a:latin typeface="Space Grotesk" pitchFamily="34" charset="0"/>
                <a:ea typeface="Space Grotesk" pitchFamily="34" charset="-122"/>
                <a:cs typeface="Space Grotesk" pitchFamily="34" charset="-120"/>
              </a:rPr>
              <a:t>Register &amp; use a Passkey</a:t>
            </a:r>
            <a:endParaRPr lang="en-US" sz="2250" dirty="0"/>
          </a:p>
        </p:txBody>
      </p:sp>
      <p:sp>
        <p:nvSpPr>
          <p:cNvPr id="21" name="Text 19"/>
          <p:cNvSpPr/>
          <p:nvPr/>
        </p:nvSpPr>
        <p:spPr>
          <a:xfrm>
            <a:off x="1866900" y="6463308"/>
            <a:ext cx="7220712"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AAB7D2"/>
                </a:solidFill>
                <a:latin typeface="Space Grotesk" pitchFamily="34" charset="0"/>
                <a:ea typeface="Space Grotesk" pitchFamily="34" charset="-122"/>
                <a:cs typeface="Space Grotesk" pitchFamily="34" charset="-120"/>
              </a:rPr>
              <a:t>Touch ID / Windows Hello → log in with no password at all.</a:t>
            </a:r>
            <a:endParaRPr lang="en-US" sz="1800" dirty="0"/>
          </a:p>
        </p:txBody>
      </p:sp>
      <p:sp>
        <p:nvSpPr>
          <p:cNvPr id="22" name="Shape 20"/>
          <p:cNvSpPr/>
          <p:nvPr/>
        </p:nvSpPr>
        <p:spPr>
          <a:xfrm>
            <a:off x="9410700" y="5882283"/>
            <a:ext cx="7810500" cy="9525"/>
          </a:xfrm>
          <a:prstGeom prst="rect">
            <a:avLst/>
          </a:prstGeom>
          <a:solidFill>
            <a:srgbClr val="94A3B8">
              <a:alpha val="10000"/>
            </a:srgbClr>
          </a:solidFill>
          <a:ln/>
        </p:spPr>
      </p:sp>
      <p:sp>
        <p:nvSpPr>
          <p:cNvPr id="23" name="Text 21"/>
          <p:cNvSpPr/>
          <p:nvPr/>
        </p:nvSpPr>
        <p:spPr>
          <a:xfrm>
            <a:off x="9410700" y="6063258"/>
            <a:ext cx="685800" cy="381000"/>
          </a:xfrm>
          <a:prstGeom prst="rect">
            <a:avLst/>
          </a:prstGeom>
          <a:noFill/>
          <a:ln/>
        </p:spPr>
        <p:txBody>
          <a:bodyPr wrap="square" lIns="25400" tIns="25400" rIns="25400" bIns="25400" rtlCol="0" anchor="t">
            <a:normAutofit/>
          </a:bodyPr>
          <a:lstStyle/>
          <a:p>
            <a:pPr algn="l" indent="0" marL="0">
              <a:lnSpc>
                <a:spcPct val="100000"/>
              </a:lnSpc>
              <a:buNone/>
            </a:pPr>
            <a:r>
              <a:rPr lang="en-US" sz="2700" dirty="0">
                <a:solidFill>
                  <a:srgbClr val="818CF8"/>
                </a:solidFill>
                <a:latin typeface="JetBrains Mono" pitchFamily="34" charset="0"/>
                <a:ea typeface="JetBrains Mono" pitchFamily="34" charset="-122"/>
                <a:cs typeface="JetBrains Mono" pitchFamily="34" charset="-120"/>
              </a:rPr>
              <a:t>06</a:t>
            </a:r>
            <a:endParaRPr lang="en-US" sz="2700" dirty="0"/>
          </a:p>
        </p:txBody>
      </p:sp>
      <p:sp>
        <p:nvSpPr>
          <p:cNvPr id="24" name="Text 22"/>
          <p:cNvSpPr/>
          <p:nvPr/>
        </p:nvSpPr>
        <p:spPr>
          <a:xfrm>
            <a:off x="10210800" y="6063258"/>
            <a:ext cx="7220712" cy="381000"/>
          </a:xfrm>
          <a:prstGeom prst="rect">
            <a:avLst/>
          </a:prstGeom>
          <a:noFill/>
          <a:ln/>
        </p:spPr>
        <p:txBody>
          <a:bodyPr wrap="square" lIns="25400" tIns="25400" rIns="25400" bIns="25400" rtlCol="0" anchor="t">
            <a:normAutofit/>
          </a:bodyPr>
          <a:lstStyle/>
          <a:p>
            <a:pPr algn="l" indent="0" marL="0">
              <a:lnSpc>
                <a:spcPct val="120000"/>
              </a:lnSpc>
              <a:buNone/>
            </a:pPr>
            <a:r>
              <a:rPr lang="en-US" sz="2250" b="1" dirty="0">
                <a:solidFill>
                  <a:srgbClr val="E6EDF7"/>
                </a:solidFill>
                <a:latin typeface="Space Grotesk" pitchFamily="34" charset="0"/>
                <a:ea typeface="Space Grotesk" pitchFamily="34" charset="-122"/>
                <a:cs typeface="Space Grotesk" pitchFamily="34" charset="-120"/>
              </a:rPr>
              <a:t>Hit an admin route as user → admin</a:t>
            </a:r>
            <a:endParaRPr lang="en-US" sz="2250" dirty="0"/>
          </a:p>
        </p:txBody>
      </p:sp>
      <p:sp>
        <p:nvSpPr>
          <p:cNvPr id="25" name="Text 23"/>
          <p:cNvSpPr/>
          <p:nvPr/>
        </p:nvSpPr>
        <p:spPr>
          <a:xfrm>
            <a:off x="10210800" y="6463308"/>
            <a:ext cx="7220712"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818CF8"/>
                </a:solidFill>
                <a:highlight>
                  <a:srgbClr val="818CF8"/>
                </a:highlight>
                <a:latin typeface="JetBrains Mono" pitchFamily="34" charset="0"/>
                <a:ea typeface="JetBrains Mono" pitchFamily="34" charset="-122"/>
                <a:cs typeface="JetBrains Mono" pitchFamily="34" charset="-120"/>
              </a:rPr>
              <a:t>403 </a:t>
            </a:r>
            <a:pPr algn="l" indent="0" marL="0">
              <a:lnSpc>
                <a:spcPct val="140000"/>
              </a:lnSpc>
              <a:buNone/>
            </a:pPr>
            <a:r>
              <a:rPr lang="en-US" sz="1800" dirty="0">
                <a:solidFill>
                  <a:srgbClr val="AAB7D2"/>
                </a:solidFill>
                <a:latin typeface="Space Grotesk" pitchFamily="34" charset="0"/>
                <a:ea typeface="Space Grotesk" pitchFamily="34" charset="-122"/>
                <a:cs typeface="Space Grotesk" pitchFamily="34" charset="-120"/>
              </a:rPr>
              <a:t>as a user, </a:t>
            </a:r>
            <a:pPr algn="l" indent="0" marL="0">
              <a:lnSpc>
                <a:spcPct val="140000"/>
              </a:lnSpc>
              <a:buNone/>
            </a:pPr>
            <a:r>
              <a:rPr lang="en-US" sz="1800" dirty="0">
                <a:solidFill>
                  <a:srgbClr val="818CF8"/>
                </a:solidFill>
                <a:highlight>
                  <a:srgbClr val="818CF8"/>
                </a:highlight>
                <a:latin typeface="JetBrains Mono" pitchFamily="34" charset="0"/>
                <a:ea typeface="JetBrains Mono" pitchFamily="34" charset="-122"/>
                <a:cs typeface="JetBrains Mono" pitchFamily="34" charset="-120"/>
              </a:rPr>
              <a:t>200 </a:t>
            </a:r>
            <a:pPr algn="l" indent="0" marL="0">
              <a:lnSpc>
                <a:spcPct val="140000"/>
              </a:lnSpc>
              <a:buNone/>
            </a:pPr>
            <a:r>
              <a:rPr lang="en-US" sz="1800" dirty="0">
                <a:solidFill>
                  <a:srgbClr val="AAB7D2"/>
                </a:solidFill>
                <a:latin typeface="Space Grotesk" pitchFamily="34" charset="0"/>
                <a:ea typeface="Space Grotesk" pitchFamily="34" charset="-122"/>
                <a:cs typeface="Space Grotesk" pitchFamily="34" charset="-120"/>
              </a:rPr>
              <a:t>after role flip.</a:t>
            </a:r>
            <a:endParaRPr lang="en-US" sz="1800" dirty="0"/>
          </a:p>
        </p:txBody>
      </p:sp>
      <p:sp>
        <p:nvSpPr>
          <p:cNvPr id="26" name="Shape 24"/>
          <p:cNvSpPr/>
          <p:nvPr/>
        </p:nvSpPr>
        <p:spPr>
          <a:xfrm>
            <a:off x="1066800" y="9553575"/>
            <a:ext cx="675977" cy="390525"/>
          </a:xfrm>
          <a:prstGeom prst="roundRect">
            <a:avLst>
              <a:gd name="adj" fmla="val 50000"/>
            </a:avLst>
          </a:prstGeom>
          <a:ln w="9525">
            <a:solidFill>
              <a:srgbClr val="94A3B8">
                <a:alpha val="18000"/>
              </a:srgbClr>
            </a:solidFill>
            <a:prstDash val="solid"/>
          </a:ln>
        </p:spPr>
      </p:sp>
      <p:sp>
        <p:nvSpPr>
          <p:cNvPr id="27" name="Text 25"/>
          <p:cNvSpPr/>
          <p:nvPr/>
        </p:nvSpPr>
        <p:spPr>
          <a:xfrm>
            <a:off x="1171575" y="9601200"/>
            <a:ext cx="542627"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AAB7D2"/>
                </a:solidFill>
                <a:latin typeface="JetBrains Mono" pitchFamily="34" charset="0"/>
                <a:ea typeface="JetBrains Mono" pitchFamily="34" charset="-122"/>
                <a:cs typeface="JetBrains Mono" pitchFamily="34" charset="-120"/>
              </a:rPr>
              <a:t>IAM</a:t>
            </a:r>
            <a:endParaRPr lang="en-US" sz="1800" dirty="0"/>
          </a:p>
        </p:txBody>
      </p:sp>
      <p:sp>
        <p:nvSpPr>
          <p:cNvPr id="28" name="Text 26"/>
          <p:cNvSpPr/>
          <p:nvPr/>
        </p:nvSpPr>
        <p:spPr>
          <a:xfrm>
            <a:off x="1876127" y="9601200"/>
            <a:ext cx="1475333"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E7B99"/>
                </a:solidFill>
                <a:latin typeface="JetBrains Mono" pitchFamily="34" charset="0"/>
                <a:ea typeface="JetBrains Mono" pitchFamily="34" charset="-122"/>
                <a:cs typeface="JetBrains Mono" pitchFamily="34" charset="-120"/>
              </a:rPr>
              <a:t>Live Demo</a:t>
            </a:r>
            <a:endParaRPr lang="en-US" sz="1800" dirty="0"/>
          </a:p>
        </p:txBody>
      </p:sp>
      <p:sp>
        <p:nvSpPr>
          <p:cNvPr id="29" name="Text 27"/>
          <p:cNvSpPr/>
          <p:nvPr/>
        </p:nvSpPr>
        <p:spPr>
          <a:xfrm>
            <a:off x="16132969" y="960120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E7B99"/>
                </a:solidFill>
                <a:latin typeface="JetBrains Mono" pitchFamily="34" charset="0"/>
                <a:ea typeface="JetBrains Mono" pitchFamily="34" charset="-122"/>
                <a:cs typeface="JetBrains Mono" pitchFamily="34" charset="-120"/>
              </a:rPr>
              <a:t>09 / 11</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1066800" y="914400"/>
            <a:ext cx="16639032" cy="3333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818CF8"/>
                </a:solidFill>
                <a:latin typeface="JetBrains Mono" pitchFamily="34" charset="0"/>
                <a:ea typeface="JetBrains Mono" pitchFamily="34" charset="-122"/>
                <a:cs typeface="JetBrains Mono" pitchFamily="34" charset="-120"/>
              </a:rPr>
              <a:t>SECURITY </a:t>
            </a:r>
            <a:pPr algn="l" indent="0" marL="0">
              <a:buNone/>
            </a:pPr>
            <a:r>
              <a:rPr lang="en-US" sz="1800" spc="288" kern="0" dirty="0">
                <a:solidFill>
                  <a:srgbClr val="6E7B99"/>
                </a:solidFill>
                <a:latin typeface="JetBrains Mono" pitchFamily="34" charset="0"/>
                <a:ea typeface="JetBrains Mono" pitchFamily="34" charset="-122"/>
                <a:cs typeface="JetBrains Mono" pitchFamily="34" charset="-120"/>
              </a:rPr>
              <a:t>· </a:t>
            </a:r>
            <a:pPr algn="l" indent="0" marL="0">
              <a:buNone/>
            </a:pPr>
            <a:r>
              <a:rPr lang="en-US" sz="1800" spc="288" kern="0" dirty="0">
                <a:solidFill>
                  <a:srgbClr val="818CF8"/>
                </a:solidFill>
                <a:latin typeface="JetBrains Mono" pitchFamily="34" charset="0"/>
                <a:ea typeface="JetBrains Mono" pitchFamily="34" charset="-122"/>
                <a:cs typeface="JetBrains Mono" pitchFamily="34" charset="-120"/>
              </a:rPr>
              <a:t>HIGHLIGHTS</a:t>
            </a:r>
            <a:endParaRPr lang="en-US" sz="1800" dirty="0"/>
          </a:p>
        </p:txBody>
      </p:sp>
      <p:sp>
        <p:nvSpPr>
          <p:cNvPr id="3" name="Text 1"/>
          <p:cNvSpPr/>
          <p:nvPr/>
        </p:nvSpPr>
        <p:spPr>
          <a:xfrm>
            <a:off x="1066800" y="1400175"/>
            <a:ext cx="14716125" cy="678061"/>
          </a:xfrm>
          <a:prstGeom prst="rect">
            <a:avLst/>
          </a:prstGeom>
          <a:noFill/>
          <a:ln/>
        </p:spPr>
        <p:txBody>
          <a:bodyPr wrap="square" lIns="25400" tIns="25400" rIns="25400" bIns="25400" rtlCol="0" anchor="t">
            <a:normAutofit/>
          </a:bodyPr>
          <a:lstStyle/>
          <a:p>
            <a:pPr algn="l" indent="0" marL="0">
              <a:lnSpc>
                <a:spcPct val="105000"/>
              </a:lnSpc>
              <a:buNone/>
            </a:pPr>
            <a:r>
              <a:rPr lang="en-US" sz="4800" b="1" spc="-96" kern="0" dirty="0">
                <a:solidFill>
                  <a:srgbClr val="E6EDF7"/>
                </a:solidFill>
                <a:latin typeface="Space Grotesk" pitchFamily="34" charset="0"/>
                <a:ea typeface="Space Grotesk" pitchFamily="34" charset="-122"/>
                <a:cs typeface="Space Grotesk" pitchFamily="34" charset="-120"/>
              </a:rPr>
              <a:t>Security highlights.</a:t>
            </a:r>
            <a:endParaRPr lang="en-US" sz="4800" dirty="0"/>
          </a:p>
        </p:txBody>
      </p:sp>
      <p:sp>
        <p:nvSpPr>
          <p:cNvPr id="4" name="Text 2"/>
          <p:cNvSpPr/>
          <p:nvPr/>
        </p:nvSpPr>
        <p:spPr>
          <a:xfrm>
            <a:off x="1066800" y="2725936"/>
            <a:ext cx="2747010" cy="3333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818CF8"/>
                </a:solidFill>
                <a:latin typeface="JetBrains Mono" pitchFamily="34" charset="0"/>
                <a:ea typeface="JetBrains Mono" pitchFamily="34" charset="-122"/>
                <a:cs typeface="JetBrains Mono" pitchFamily="34" charset="-120"/>
              </a:rPr>
              <a:t>ARGON2ID</a:t>
            </a:r>
            <a:endParaRPr lang="en-US" sz="1800" dirty="0"/>
          </a:p>
        </p:txBody>
      </p:sp>
      <p:sp>
        <p:nvSpPr>
          <p:cNvPr id="5" name="Text 3"/>
          <p:cNvSpPr/>
          <p:nvPr/>
        </p:nvSpPr>
        <p:spPr>
          <a:xfrm>
            <a:off x="4114800" y="2668786"/>
            <a:ext cx="13499592" cy="811411"/>
          </a:xfrm>
          <a:prstGeom prst="rect">
            <a:avLst/>
          </a:prstGeom>
          <a:noFill/>
          <a:ln/>
        </p:spPr>
        <p:txBody>
          <a:bodyPr wrap="square" lIns="25400" tIns="25400" rIns="25400" bIns="25400" rtlCol="0" anchor="t">
            <a:normAutofit/>
          </a:bodyPr>
          <a:lstStyle/>
          <a:p>
            <a:pPr algn="l" indent="0" marL="0">
              <a:lnSpc>
                <a:spcPct val="145000"/>
              </a:lnSpc>
              <a:buNone/>
            </a:pPr>
            <a:r>
              <a:rPr lang="en-US" sz="2100" dirty="0">
                <a:solidFill>
                  <a:srgbClr val="E6EDF7"/>
                </a:solidFill>
                <a:latin typeface="Space Grotesk" pitchFamily="34" charset="0"/>
                <a:ea typeface="Space Grotesk" pitchFamily="34" charset="-122"/>
                <a:cs typeface="Space Grotesk" pitchFamily="34" charset="-120"/>
              </a:rPr>
              <a:t>Password hashing with 64 MB memory, timeCost 3 — OWASP-recommended, deliberately slow on GPUs.</a:t>
            </a:r>
            <a:endParaRPr lang="en-US" sz="2100" dirty="0"/>
          </a:p>
        </p:txBody>
      </p:sp>
      <p:sp>
        <p:nvSpPr>
          <p:cNvPr id="6" name="Shape 4"/>
          <p:cNvSpPr/>
          <p:nvPr/>
        </p:nvSpPr>
        <p:spPr>
          <a:xfrm>
            <a:off x="1066800" y="3804047"/>
            <a:ext cx="16154400" cy="9525"/>
          </a:xfrm>
          <a:prstGeom prst="rect">
            <a:avLst/>
          </a:prstGeom>
          <a:solidFill>
            <a:srgbClr val="94A3B8">
              <a:alpha val="10000"/>
            </a:srgbClr>
          </a:solidFill>
          <a:ln/>
        </p:spPr>
      </p:sp>
      <p:sp>
        <p:nvSpPr>
          <p:cNvPr id="7" name="Text 5"/>
          <p:cNvSpPr/>
          <p:nvPr/>
        </p:nvSpPr>
        <p:spPr>
          <a:xfrm>
            <a:off x="1066800" y="4042172"/>
            <a:ext cx="2747010" cy="3333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818CF8"/>
                </a:solidFill>
                <a:latin typeface="JetBrains Mono" pitchFamily="34" charset="0"/>
                <a:ea typeface="JetBrains Mono" pitchFamily="34" charset="-122"/>
                <a:cs typeface="JetBrains Mono" pitchFamily="34" charset="-120"/>
              </a:rPr>
              <a:t>BACKUP CODES</a:t>
            </a:r>
            <a:endParaRPr lang="en-US" sz="1800" dirty="0"/>
          </a:p>
        </p:txBody>
      </p:sp>
      <p:sp>
        <p:nvSpPr>
          <p:cNvPr id="8" name="Text 6"/>
          <p:cNvSpPr/>
          <p:nvPr/>
        </p:nvSpPr>
        <p:spPr>
          <a:xfrm>
            <a:off x="4114800" y="3985022"/>
            <a:ext cx="13499592" cy="424755"/>
          </a:xfrm>
          <a:prstGeom prst="rect">
            <a:avLst/>
          </a:prstGeom>
          <a:noFill/>
          <a:ln/>
        </p:spPr>
        <p:txBody>
          <a:bodyPr wrap="square" lIns="25400" tIns="25400" rIns="25400" bIns="25400" rtlCol="0" anchor="t">
            <a:normAutofit/>
          </a:bodyPr>
          <a:lstStyle/>
          <a:p>
            <a:pPr algn="l" indent="0" marL="0">
              <a:lnSpc>
                <a:spcPct val="145000"/>
              </a:lnSpc>
              <a:buNone/>
            </a:pPr>
            <a:r>
              <a:rPr lang="en-US" sz="2100" dirty="0">
                <a:solidFill>
                  <a:srgbClr val="E6EDF7"/>
                </a:solidFill>
                <a:latin typeface="Space Grotesk" pitchFamily="34" charset="0"/>
                <a:ea typeface="Space Grotesk" pitchFamily="34" charset="-122"/>
                <a:cs typeface="Space Grotesk" pitchFamily="34" charset="-120"/>
              </a:rPr>
              <a:t>2FA recovery codes hashed at rest; plaintext shown once on enrollment, never stored.</a:t>
            </a:r>
            <a:endParaRPr lang="en-US" sz="2100" dirty="0"/>
          </a:p>
        </p:txBody>
      </p:sp>
      <p:sp>
        <p:nvSpPr>
          <p:cNvPr id="9" name="Shape 7"/>
          <p:cNvSpPr/>
          <p:nvPr/>
        </p:nvSpPr>
        <p:spPr>
          <a:xfrm>
            <a:off x="1066800" y="4733627"/>
            <a:ext cx="16154400" cy="9525"/>
          </a:xfrm>
          <a:prstGeom prst="rect">
            <a:avLst/>
          </a:prstGeom>
          <a:solidFill>
            <a:srgbClr val="94A3B8">
              <a:alpha val="10000"/>
            </a:srgbClr>
          </a:solidFill>
          <a:ln/>
        </p:spPr>
      </p:sp>
      <p:sp>
        <p:nvSpPr>
          <p:cNvPr id="10" name="Text 8"/>
          <p:cNvSpPr/>
          <p:nvPr/>
        </p:nvSpPr>
        <p:spPr>
          <a:xfrm>
            <a:off x="1066800" y="4971752"/>
            <a:ext cx="2747010" cy="3333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818CF8"/>
                </a:solidFill>
                <a:latin typeface="JetBrains Mono" pitchFamily="34" charset="0"/>
                <a:ea typeface="JetBrains Mono" pitchFamily="34" charset="-122"/>
                <a:cs typeface="JetBrains Mono" pitchFamily="34" charset="-120"/>
              </a:rPr>
              <a:t>REFRESH ROTATION</a:t>
            </a:r>
            <a:endParaRPr lang="en-US" sz="1800" dirty="0"/>
          </a:p>
        </p:txBody>
      </p:sp>
      <p:sp>
        <p:nvSpPr>
          <p:cNvPr id="11" name="Text 9"/>
          <p:cNvSpPr/>
          <p:nvPr/>
        </p:nvSpPr>
        <p:spPr>
          <a:xfrm>
            <a:off x="4114800" y="4914602"/>
            <a:ext cx="13499592" cy="424755"/>
          </a:xfrm>
          <a:prstGeom prst="rect">
            <a:avLst/>
          </a:prstGeom>
          <a:noFill/>
          <a:ln/>
        </p:spPr>
        <p:txBody>
          <a:bodyPr wrap="square" lIns="25400" tIns="25400" rIns="25400" bIns="25400" rtlCol="0" anchor="t">
            <a:normAutofit/>
          </a:bodyPr>
          <a:lstStyle/>
          <a:p>
            <a:pPr algn="l" indent="0" marL="0">
              <a:lnSpc>
                <a:spcPct val="145000"/>
              </a:lnSpc>
              <a:buNone/>
            </a:pPr>
            <a:r>
              <a:rPr lang="en-US" sz="2100" dirty="0">
                <a:solidFill>
                  <a:srgbClr val="E6EDF7"/>
                </a:solidFill>
                <a:latin typeface="Space Grotesk" pitchFamily="34" charset="0"/>
                <a:ea typeface="Space Grotesk" pitchFamily="34" charset="-122"/>
                <a:cs typeface="Space Grotesk" pitchFamily="34" charset="-120"/>
              </a:rPr>
              <a:t>Every refresh issues a new pair and deletes the old token; reuse means replay, session revoked.</a:t>
            </a:r>
            <a:endParaRPr lang="en-US" sz="2100" dirty="0"/>
          </a:p>
        </p:txBody>
      </p:sp>
      <p:sp>
        <p:nvSpPr>
          <p:cNvPr id="12" name="Shape 10"/>
          <p:cNvSpPr/>
          <p:nvPr/>
        </p:nvSpPr>
        <p:spPr>
          <a:xfrm>
            <a:off x="1066800" y="5663208"/>
            <a:ext cx="16154400" cy="9525"/>
          </a:xfrm>
          <a:prstGeom prst="rect">
            <a:avLst/>
          </a:prstGeom>
          <a:solidFill>
            <a:srgbClr val="94A3B8">
              <a:alpha val="10000"/>
            </a:srgbClr>
          </a:solidFill>
          <a:ln/>
        </p:spPr>
      </p:sp>
      <p:sp>
        <p:nvSpPr>
          <p:cNvPr id="13" name="Text 11"/>
          <p:cNvSpPr/>
          <p:nvPr/>
        </p:nvSpPr>
        <p:spPr>
          <a:xfrm>
            <a:off x="1066800" y="5901333"/>
            <a:ext cx="2747010" cy="3333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818CF8"/>
                </a:solidFill>
                <a:latin typeface="JetBrains Mono" pitchFamily="34" charset="0"/>
                <a:ea typeface="JetBrains Mono" pitchFamily="34" charset="-122"/>
                <a:cs typeface="JetBrains Mono" pitchFamily="34" charset="-120"/>
              </a:rPr>
              <a:t>ACCESS TTL</a:t>
            </a:r>
            <a:endParaRPr lang="en-US" sz="1800" dirty="0"/>
          </a:p>
        </p:txBody>
      </p:sp>
      <p:sp>
        <p:nvSpPr>
          <p:cNvPr id="14" name="Text 12"/>
          <p:cNvSpPr/>
          <p:nvPr/>
        </p:nvSpPr>
        <p:spPr>
          <a:xfrm>
            <a:off x="4114800" y="5844183"/>
            <a:ext cx="13499592" cy="424755"/>
          </a:xfrm>
          <a:prstGeom prst="rect">
            <a:avLst/>
          </a:prstGeom>
          <a:noFill/>
          <a:ln/>
        </p:spPr>
        <p:txBody>
          <a:bodyPr wrap="square" lIns="25400" tIns="25400" rIns="25400" bIns="25400" rtlCol="0" anchor="t">
            <a:normAutofit/>
          </a:bodyPr>
          <a:lstStyle/>
          <a:p>
            <a:pPr algn="l" indent="0" marL="0">
              <a:lnSpc>
                <a:spcPct val="145000"/>
              </a:lnSpc>
              <a:buNone/>
            </a:pPr>
            <a:r>
              <a:rPr lang="en-US" sz="2100" dirty="0">
                <a:solidFill>
                  <a:srgbClr val="E6EDF7"/>
                </a:solidFill>
                <a:latin typeface="Space Grotesk" pitchFamily="34" charset="0"/>
                <a:ea typeface="Space Grotesk" pitchFamily="34" charset="-122"/>
                <a:cs typeface="Space Grotesk" pitchFamily="34" charset="-120"/>
              </a:rPr>
              <a:t>15-minute access tokens, in-memory only. Stolen tokens have a tiny blast radius.</a:t>
            </a:r>
            <a:endParaRPr lang="en-US" sz="2100" dirty="0"/>
          </a:p>
        </p:txBody>
      </p:sp>
      <p:sp>
        <p:nvSpPr>
          <p:cNvPr id="15" name="Shape 13"/>
          <p:cNvSpPr/>
          <p:nvPr/>
        </p:nvSpPr>
        <p:spPr>
          <a:xfrm>
            <a:off x="1066800" y="6592788"/>
            <a:ext cx="16154400" cy="9525"/>
          </a:xfrm>
          <a:prstGeom prst="rect">
            <a:avLst/>
          </a:prstGeom>
          <a:solidFill>
            <a:srgbClr val="94A3B8">
              <a:alpha val="10000"/>
            </a:srgbClr>
          </a:solidFill>
          <a:ln/>
        </p:spPr>
      </p:sp>
      <p:sp>
        <p:nvSpPr>
          <p:cNvPr id="16" name="Text 14"/>
          <p:cNvSpPr/>
          <p:nvPr/>
        </p:nvSpPr>
        <p:spPr>
          <a:xfrm>
            <a:off x="1066800" y="6830913"/>
            <a:ext cx="2747010" cy="333375"/>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818CF8"/>
                </a:solidFill>
                <a:latin typeface="JetBrains Mono" pitchFamily="34" charset="0"/>
                <a:ea typeface="JetBrains Mono" pitchFamily="34" charset="-122"/>
                <a:cs typeface="JetBrains Mono" pitchFamily="34" charset="-120"/>
              </a:rPr>
              <a:t>PASSKEYS</a:t>
            </a:r>
            <a:endParaRPr lang="en-US" sz="1800" dirty="0"/>
          </a:p>
        </p:txBody>
      </p:sp>
      <p:sp>
        <p:nvSpPr>
          <p:cNvPr id="17" name="Text 15"/>
          <p:cNvSpPr/>
          <p:nvPr/>
        </p:nvSpPr>
        <p:spPr>
          <a:xfrm>
            <a:off x="4114800" y="6773763"/>
            <a:ext cx="13499592" cy="811411"/>
          </a:xfrm>
          <a:prstGeom prst="rect">
            <a:avLst/>
          </a:prstGeom>
          <a:noFill/>
          <a:ln/>
        </p:spPr>
        <p:txBody>
          <a:bodyPr wrap="square" lIns="25400" tIns="25400" rIns="25400" bIns="25400" rtlCol="0" anchor="t">
            <a:normAutofit/>
          </a:bodyPr>
          <a:lstStyle/>
          <a:p>
            <a:pPr algn="l" indent="0" marL="0">
              <a:lnSpc>
                <a:spcPct val="145000"/>
              </a:lnSpc>
              <a:buNone/>
            </a:pPr>
            <a:r>
              <a:rPr lang="en-US" sz="2100" dirty="0">
                <a:solidFill>
                  <a:srgbClr val="E6EDF7"/>
                </a:solidFill>
                <a:latin typeface="Space Grotesk" pitchFamily="34" charset="0"/>
                <a:ea typeface="Space Grotesk" pitchFamily="34" charset="-122"/>
                <a:cs typeface="Space Grotesk" pitchFamily="34" charset="-120"/>
              </a:rPr>
              <a:t>Origin-bound public-key auth; a phishing site cannot trigger the real credential, even with a perfect UI copy.</a:t>
            </a:r>
            <a:endParaRPr lang="en-US" sz="2100" dirty="0"/>
          </a:p>
        </p:txBody>
      </p:sp>
      <p:sp>
        <p:nvSpPr>
          <p:cNvPr id="18" name="Shape 16"/>
          <p:cNvSpPr/>
          <p:nvPr/>
        </p:nvSpPr>
        <p:spPr>
          <a:xfrm>
            <a:off x="1066800" y="9553575"/>
            <a:ext cx="675977" cy="390525"/>
          </a:xfrm>
          <a:prstGeom prst="roundRect">
            <a:avLst>
              <a:gd name="adj" fmla="val 50000"/>
            </a:avLst>
          </a:prstGeom>
          <a:ln w="9525">
            <a:solidFill>
              <a:srgbClr val="94A3B8">
                <a:alpha val="18000"/>
              </a:srgbClr>
            </a:solidFill>
            <a:prstDash val="solid"/>
          </a:ln>
        </p:spPr>
      </p:sp>
      <p:sp>
        <p:nvSpPr>
          <p:cNvPr id="19" name="Text 17"/>
          <p:cNvSpPr/>
          <p:nvPr/>
        </p:nvSpPr>
        <p:spPr>
          <a:xfrm>
            <a:off x="1171575" y="9601200"/>
            <a:ext cx="542627"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AAB7D2"/>
                </a:solidFill>
                <a:latin typeface="JetBrains Mono" pitchFamily="34" charset="0"/>
                <a:ea typeface="JetBrains Mono" pitchFamily="34" charset="-122"/>
                <a:cs typeface="JetBrains Mono" pitchFamily="34" charset="-120"/>
              </a:rPr>
              <a:t>IAM</a:t>
            </a:r>
            <a:endParaRPr lang="en-US" sz="1800" dirty="0"/>
          </a:p>
        </p:txBody>
      </p:sp>
      <p:sp>
        <p:nvSpPr>
          <p:cNvPr id="20" name="Text 18"/>
          <p:cNvSpPr/>
          <p:nvPr/>
        </p:nvSpPr>
        <p:spPr>
          <a:xfrm>
            <a:off x="1876127" y="9601200"/>
            <a:ext cx="1319808"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E7B99"/>
                </a:solidFill>
                <a:latin typeface="JetBrains Mono" pitchFamily="34" charset="0"/>
                <a:ea typeface="JetBrains Mono" pitchFamily="34" charset="-122"/>
                <a:cs typeface="JetBrains Mono" pitchFamily="34" charset="-120"/>
              </a:rPr>
              <a:t>Security</a:t>
            </a:r>
            <a:endParaRPr lang="en-US" sz="1800" dirty="0"/>
          </a:p>
        </p:txBody>
      </p:sp>
      <p:sp>
        <p:nvSpPr>
          <p:cNvPr id="21" name="Text 19"/>
          <p:cNvSpPr/>
          <p:nvPr/>
        </p:nvSpPr>
        <p:spPr>
          <a:xfrm>
            <a:off x="16132969" y="960120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E7B99"/>
                </a:solidFill>
                <a:latin typeface="JetBrains Mono" pitchFamily="34" charset="0"/>
                <a:ea typeface="JetBrains Mono" pitchFamily="34" charset="-122"/>
                <a:cs typeface="JetBrains Mono" pitchFamily="34" charset="-120"/>
              </a:rPr>
              <a:t>10 / 11</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1066800" y="914400"/>
            <a:ext cx="16639032" cy="3333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818CF8"/>
                </a:solidFill>
                <a:latin typeface="JetBrains Mono" pitchFamily="34" charset="0"/>
                <a:ea typeface="JetBrains Mono" pitchFamily="34" charset="-122"/>
                <a:cs typeface="JetBrains Mono" pitchFamily="34" charset="-120"/>
              </a:rPr>
              <a:t>CONCLUSION </a:t>
            </a:r>
            <a:pPr algn="l" indent="0" marL="0">
              <a:buNone/>
            </a:pPr>
            <a:r>
              <a:rPr lang="en-US" sz="1800" spc="288" kern="0" dirty="0">
                <a:solidFill>
                  <a:srgbClr val="6E7B99"/>
                </a:solidFill>
                <a:latin typeface="JetBrains Mono" pitchFamily="34" charset="0"/>
                <a:ea typeface="JetBrains Mono" pitchFamily="34" charset="-122"/>
                <a:cs typeface="JetBrains Mono" pitchFamily="34" charset="-120"/>
              </a:rPr>
              <a:t>· </a:t>
            </a:r>
            <a:pPr algn="l" indent="0" marL="0">
              <a:buNone/>
            </a:pPr>
            <a:r>
              <a:rPr lang="en-US" sz="1800" spc="288" kern="0" dirty="0">
                <a:solidFill>
                  <a:srgbClr val="818CF8"/>
                </a:solidFill>
                <a:latin typeface="JetBrains Mono" pitchFamily="34" charset="0"/>
                <a:ea typeface="JetBrains Mono" pitchFamily="34" charset="-122"/>
                <a:cs typeface="JetBrains Mono" pitchFamily="34" charset="-120"/>
              </a:rPr>
              <a:t>THANK YOU</a:t>
            </a:r>
            <a:endParaRPr lang="en-US" sz="1800" dirty="0"/>
          </a:p>
        </p:txBody>
      </p:sp>
      <p:sp>
        <p:nvSpPr>
          <p:cNvPr id="3" name="Text 1"/>
          <p:cNvSpPr/>
          <p:nvPr/>
        </p:nvSpPr>
        <p:spPr>
          <a:xfrm>
            <a:off x="1066800" y="1400175"/>
            <a:ext cx="14716125" cy="1318022"/>
          </a:xfrm>
          <a:prstGeom prst="rect">
            <a:avLst/>
          </a:prstGeom>
          <a:noFill/>
          <a:ln/>
        </p:spPr>
        <p:txBody>
          <a:bodyPr wrap="square" lIns="25400" tIns="25400" rIns="25400" bIns="25400" rtlCol="0" anchor="t">
            <a:normAutofit/>
          </a:bodyPr>
          <a:lstStyle/>
          <a:p>
            <a:pPr algn="l" indent="0" marL="0">
              <a:lnSpc>
                <a:spcPct val="105000"/>
              </a:lnSpc>
              <a:buNone/>
            </a:pPr>
            <a:r>
              <a:rPr lang="en-US" sz="4800" b="1" spc="-96" kern="0" dirty="0">
                <a:solidFill>
                  <a:srgbClr val="E6EDF7"/>
                </a:solidFill>
                <a:latin typeface="Space Grotesk" pitchFamily="34" charset="0"/>
                <a:ea typeface="Space Grotesk" pitchFamily="34" charset="-122"/>
                <a:cs typeface="Space Grotesk" pitchFamily="34" charset="-120"/>
              </a:rPr>
              <a:t>Four pillars, one auth system, </a:t>
            </a:r>
            <a:pPr algn="l" indent="0" marL="0">
              <a:lnSpc>
                <a:spcPct val="105000"/>
              </a:lnSpc>
              <a:buNone/>
            </a:pPr>
            <a:r>
              <a:rPr lang="en-US" sz="4800" b="1" spc="-96" kern="0" dirty="0">
                <a:solidFill>
                  <a:srgbClr val="818CF8"/>
                </a:solidFill>
                <a:latin typeface="Space Grotesk" pitchFamily="34" charset="0"/>
                <a:ea typeface="Space Grotesk" pitchFamily="34" charset="-122"/>
                <a:cs typeface="Space Grotesk" pitchFamily="34" charset="-120"/>
              </a:rPr>
              <a:t>zero passwords if you want.</a:t>
            </a:r>
            <a:endParaRPr lang="en-US" sz="4800" dirty="0"/>
          </a:p>
        </p:txBody>
      </p:sp>
      <p:sp>
        <p:nvSpPr>
          <p:cNvPr id="4" name="Shape 2"/>
          <p:cNvSpPr/>
          <p:nvPr/>
        </p:nvSpPr>
        <p:spPr>
          <a:xfrm>
            <a:off x="1066800" y="3213497"/>
            <a:ext cx="3867150" cy="2049661"/>
          </a:xfrm>
          <a:prstGeom prst="roundRect">
            <a:avLst>
              <a:gd name="adj" fmla="val 7435"/>
            </a:avLst>
          </a:prstGeom>
          <a:solidFill>
            <a:srgbClr val="131F38"/>
          </a:solidFill>
          <a:ln w="9525">
            <a:solidFill>
              <a:srgbClr val="94A3B8">
                <a:alpha val="18000"/>
              </a:srgbClr>
            </a:solidFill>
            <a:prstDash val="solid"/>
          </a:ln>
        </p:spPr>
      </p:sp>
      <p:sp>
        <p:nvSpPr>
          <p:cNvPr id="5" name="Text 3"/>
          <p:cNvSpPr/>
          <p:nvPr/>
        </p:nvSpPr>
        <p:spPr>
          <a:xfrm>
            <a:off x="1304925" y="3489722"/>
            <a:ext cx="3492627" cy="3333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818CF8"/>
                </a:solidFill>
                <a:latin typeface="JetBrains Mono" pitchFamily="34" charset="0"/>
                <a:ea typeface="JetBrains Mono" pitchFamily="34" charset="-122"/>
                <a:cs typeface="JetBrains Mono" pitchFamily="34" charset="-120"/>
              </a:rPr>
              <a:t>01 · OAUTH</a:t>
            </a:r>
            <a:endParaRPr lang="en-US" sz="1800" dirty="0"/>
          </a:p>
        </p:txBody>
      </p:sp>
      <p:sp>
        <p:nvSpPr>
          <p:cNvPr id="6" name="Text 4"/>
          <p:cNvSpPr/>
          <p:nvPr/>
        </p:nvSpPr>
        <p:spPr>
          <a:xfrm>
            <a:off x="1304925" y="3880247"/>
            <a:ext cx="3492627" cy="409575"/>
          </a:xfrm>
          <a:prstGeom prst="rect">
            <a:avLst/>
          </a:prstGeom>
          <a:noFill/>
          <a:ln/>
        </p:spPr>
        <p:txBody>
          <a:bodyPr wrap="square" lIns="25400" tIns="25400" rIns="25400" bIns="25400" rtlCol="0" anchor="t">
            <a:normAutofit/>
          </a:bodyPr>
          <a:lstStyle/>
          <a:p>
            <a:pPr algn="l" indent="0" marL="0">
              <a:buNone/>
            </a:pPr>
            <a:r>
              <a:rPr lang="en-US" sz="2250" b="1" spc="-22" kern="0" dirty="0">
                <a:solidFill>
                  <a:srgbClr val="E6EDF7"/>
                </a:solidFill>
                <a:latin typeface="Space Grotesk" pitchFamily="34" charset="0"/>
                <a:ea typeface="Space Grotesk" pitchFamily="34" charset="-122"/>
                <a:cs typeface="Space Grotesk" pitchFamily="34" charset="-120"/>
              </a:rPr>
              <a:t>Federated login</a:t>
            </a:r>
            <a:endParaRPr lang="en-US" sz="2250" dirty="0"/>
          </a:p>
        </p:txBody>
      </p:sp>
      <p:sp>
        <p:nvSpPr>
          <p:cNvPr id="7" name="Text 5"/>
          <p:cNvSpPr/>
          <p:nvPr/>
        </p:nvSpPr>
        <p:spPr>
          <a:xfrm>
            <a:off x="1304925" y="4346972"/>
            <a:ext cx="3492627" cy="67806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AAB7D2"/>
                </a:solidFill>
                <a:latin typeface="Space Grotesk" pitchFamily="34" charset="0"/>
                <a:ea typeface="Space Grotesk" pitchFamily="34" charset="-122"/>
                <a:cs typeface="Space Grotesk" pitchFamily="34" charset="-120"/>
              </a:rPr>
              <a:t>Google &amp; GitHub via Passport, auto-linked by email.</a:t>
            </a:r>
            <a:endParaRPr lang="en-US" sz="1800" dirty="0"/>
          </a:p>
        </p:txBody>
      </p:sp>
      <p:sp>
        <p:nvSpPr>
          <p:cNvPr id="8" name="Shape 6"/>
          <p:cNvSpPr/>
          <p:nvPr/>
        </p:nvSpPr>
        <p:spPr>
          <a:xfrm>
            <a:off x="5162550" y="3213497"/>
            <a:ext cx="3867150" cy="2049661"/>
          </a:xfrm>
          <a:prstGeom prst="roundRect">
            <a:avLst>
              <a:gd name="adj" fmla="val 7435"/>
            </a:avLst>
          </a:prstGeom>
          <a:solidFill>
            <a:srgbClr val="131F38"/>
          </a:solidFill>
          <a:ln w="9525">
            <a:solidFill>
              <a:srgbClr val="94A3B8">
                <a:alpha val="18000"/>
              </a:srgbClr>
            </a:solidFill>
            <a:prstDash val="solid"/>
          </a:ln>
        </p:spPr>
      </p:sp>
      <p:sp>
        <p:nvSpPr>
          <p:cNvPr id="9" name="Text 7"/>
          <p:cNvSpPr/>
          <p:nvPr/>
        </p:nvSpPr>
        <p:spPr>
          <a:xfrm>
            <a:off x="5400675" y="3489722"/>
            <a:ext cx="3492627" cy="3333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818CF8"/>
                </a:solidFill>
                <a:latin typeface="JetBrains Mono" pitchFamily="34" charset="0"/>
                <a:ea typeface="JetBrains Mono" pitchFamily="34" charset="-122"/>
                <a:cs typeface="JetBrains Mono" pitchFamily="34" charset="-120"/>
              </a:rPr>
              <a:t>02 · JWT</a:t>
            </a:r>
            <a:endParaRPr lang="en-US" sz="1800" dirty="0"/>
          </a:p>
        </p:txBody>
      </p:sp>
      <p:sp>
        <p:nvSpPr>
          <p:cNvPr id="10" name="Text 8"/>
          <p:cNvSpPr/>
          <p:nvPr/>
        </p:nvSpPr>
        <p:spPr>
          <a:xfrm>
            <a:off x="5400675" y="3880247"/>
            <a:ext cx="3492627" cy="409575"/>
          </a:xfrm>
          <a:prstGeom prst="rect">
            <a:avLst/>
          </a:prstGeom>
          <a:noFill/>
          <a:ln/>
        </p:spPr>
        <p:txBody>
          <a:bodyPr wrap="square" lIns="25400" tIns="25400" rIns="25400" bIns="25400" rtlCol="0" anchor="t">
            <a:normAutofit/>
          </a:bodyPr>
          <a:lstStyle/>
          <a:p>
            <a:pPr algn="l" indent="0" marL="0">
              <a:buNone/>
            </a:pPr>
            <a:r>
              <a:rPr lang="en-US" sz="2250" b="1" spc="-22" kern="0" dirty="0">
                <a:solidFill>
                  <a:srgbClr val="E6EDF7"/>
                </a:solidFill>
                <a:latin typeface="Space Grotesk" pitchFamily="34" charset="0"/>
                <a:ea typeface="Space Grotesk" pitchFamily="34" charset="-122"/>
                <a:cs typeface="Space Grotesk" pitchFamily="34" charset="-120"/>
              </a:rPr>
              <a:t>Rotating sessions</a:t>
            </a:r>
            <a:endParaRPr lang="en-US" sz="2250" dirty="0"/>
          </a:p>
        </p:txBody>
      </p:sp>
      <p:sp>
        <p:nvSpPr>
          <p:cNvPr id="11" name="Text 9"/>
          <p:cNvSpPr/>
          <p:nvPr/>
        </p:nvSpPr>
        <p:spPr>
          <a:xfrm>
            <a:off x="5400675" y="4346972"/>
            <a:ext cx="3492627" cy="67806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AAB7D2"/>
                </a:solidFill>
                <a:latin typeface="Space Grotesk" pitchFamily="34" charset="0"/>
                <a:ea typeface="Space Grotesk" pitchFamily="34" charset="-122"/>
                <a:cs typeface="Space Grotesk" pitchFamily="34" charset="-120"/>
              </a:rPr>
              <a:t>15-min access · 7-day refresh · replay detection.</a:t>
            </a:r>
            <a:endParaRPr lang="en-US" sz="1800" dirty="0"/>
          </a:p>
        </p:txBody>
      </p:sp>
      <p:sp>
        <p:nvSpPr>
          <p:cNvPr id="12" name="Shape 10"/>
          <p:cNvSpPr/>
          <p:nvPr/>
        </p:nvSpPr>
        <p:spPr>
          <a:xfrm>
            <a:off x="9258300" y="3213497"/>
            <a:ext cx="3867150" cy="2049661"/>
          </a:xfrm>
          <a:prstGeom prst="roundRect">
            <a:avLst>
              <a:gd name="adj" fmla="val 7435"/>
            </a:avLst>
          </a:prstGeom>
          <a:solidFill>
            <a:srgbClr val="131F38"/>
          </a:solidFill>
          <a:ln w="9525">
            <a:solidFill>
              <a:srgbClr val="94A3B8">
                <a:alpha val="18000"/>
              </a:srgbClr>
            </a:solidFill>
            <a:prstDash val="solid"/>
          </a:ln>
        </p:spPr>
      </p:sp>
      <p:sp>
        <p:nvSpPr>
          <p:cNvPr id="13" name="Text 11"/>
          <p:cNvSpPr/>
          <p:nvPr/>
        </p:nvSpPr>
        <p:spPr>
          <a:xfrm>
            <a:off x="9496425" y="3489722"/>
            <a:ext cx="3492627" cy="3333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818CF8"/>
                </a:solidFill>
                <a:latin typeface="JetBrains Mono" pitchFamily="34" charset="0"/>
                <a:ea typeface="JetBrains Mono" pitchFamily="34" charset="-122"/>
                <a:cs typeface="JetBrains Mono" pitchFamily="34" charset="-120"/>
              </a:rPr>
              <a:t>03 · WEBAUTHN</a:t>
            </a:r>
            <a:endParaRPr lang="en-US" sz="1800" dirty="0"/>
          </a:p>
        </p:txBody>
      </p:sp>
      <p:sp>
        <p:nvSpPr>
          <p:cNvPr id="14" name="Text 12"/>
          <p:cNvSpPr/>
          <p:nvPr/>
        </p:nvSpPr>
        <p:spPr>
          <a:xfrm>
            <a:off x="9496425" y="3880247"/>
            <a:ext cx="3492627" cy="409575"/>
          </a:xfrm>
          <a:prstGeom prst="rect">
            <a:avLst/>
          </a:prstGeom>
          <a:noFill/>
          <a:ln/>
        </p:spPr>
        <p:txBody>
          <a:bodyPr wrap="square" lIns="25400" tIns="25400" rIns="25400" bIns="25400" rtlCol="0" anchor="t">
            <a:normAutofit/>
          </a:bodyPr>
          <a:lstStyle/>
          <a:p>
            <a:pPr algn="l" indent="0" marL="0">
              <a:buNone/>
            </a:pPr>
            <a:r>
              <a:rPr lang="en-US" sz="2250" b="1" spc="-22" kern="0" dirty="0">
                <a:solidFill>
                  <a:srgbClr val="E6EDF7"/>
                </a:solidFill>
                <a:latin typeface="Space Grotesk" pitchFamily="34" charset="0"/>
                <a:ea typeface="Space Grotesk" pitchFamily="34" charset="-122"/>
                <a:cs typeface="Space Grotesk" pitchFamily="34" charset="-120"/>
              </a:rPr>
              <a:t>Passkeys</a:t>
            </a:r>
            <a:endParaRPr lang="en-US" sz="2250" dirty="0"/>
          </a:p>
        </p:txBody>
      </p:sp>
      <p:sp>
        <p:nvSpPr>
          <p:cNvPr id="15" name="Text 13"/>
          <p:cNvSpPr/>
          <p:nvPr/>
        </p:nvSpPr>
        <p:spPr>
          <a:xfrm>
            <a:off x="9496425" y="4346972"/>
            <a:ext cx="3492627" cy="67806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AAB7D2"/>
                </a:solidFill>
                <a:latin typeface="Space Grotesk" pitchFamily="34" charset="0"/>
                <a:ea typeface="Space Grotesk" pitchFamily="34" charset="-122"/>
                <a:cs typeface="Space Grotesk" pitchFamily="34" charset="-120"/>
              </a:rPr>
              <a:t>Biometric, origin-bound, phishing-resistant.</a:t>
            </a:r>
            <a:endParaRPr lang="en-US" sz="1800" dirty="0"/>
          </a:p>
        </p:txBody>
      </p:sp>
      <p:sp>
        <p:nvSpPr>
          <p:cNvPr id="16" name="Shape 14"/>
          <p:cNvSpPr/>
          <p:nvPr/>
        </p:nvSpPr>
        <p:spPr>
          <a:xfrm>
            <a:off x="13354050" y="3213497"/>
            <a:ext cx="3867150" cy="2049661"/>
          </a:xfrm>
          <a:prstGeom prst="roundRect">
            <a:avLst>
              <a:gd name="adj" fmla="val 7435"/>
            </a:avLst>
          </a:prstGeom>
          <a:solidFill>
            <a:srgbClr val="131F38"/>
          </a:solidFill>
          <a:ln w="9525">
            <a:solidFill>
              <a:srgbClr val="94A3B8">
                <a:alpha val="18000"/>
              </a:srgbClr>
            </a:solidFill>
            <a:prstDash val="solid"/>
          </a:ln>
        </p:spPr>
      </p:sp>
      <p:sp>
        <p:nvSpPr>
          <p:cNvPr id="17" name="Text 15"/>
          <p:cNvSpPr/>
          <p:nvPr/>
        </p:nvSpPr>
        <p:spPr>
          <a:xfrm>
            <a:off x="13592175" y="3489722"/>
            <a:ext cx="3492627" cy="3333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818CF8"/>
                </a:solidFill>
                <a:latin typeface="JetBrains Mono" pitchFamily="34" charset="0"/>
                <a:ea typeface="JetBrains Mono" pitchFamily="34" charset="-122"/>
                <a:cs typeface="JetBrains Mono" pitchFamily="34" charset="-120"/>
              </a:rPr>
              <a:t>04 · RBAC</a:t>
            </a:r>
            <a:endParaRPr lang="en-US" sz="1800" dirty="0"/>
          </a:p>
        </p:txBody>
      </p:sp>
      <p:sp>
        <p:nvSpPr>
          <p:cNvPr id="18" name="Text 16"/>
          <p:cNvSpPr/>
          <p:nvPr/>
        </p:nvSpPr>
        <p:spPr>
          <a:xfrm>
            <a:off x="13592175" y="3880247"/>
            <a:ext cx="3492627" cy="409575"/>
          </a:xfrm>
          <a:prstGeom prst="rect">
            <a:avLst/>
          </a:prstGeom>
          <a:noFill/>
          <a:ln/>
        </p:spPr>
        <p:txBody>
          <a:bodyPr wrap="square" lIns="25400" tIns="25400" rIns="25400" bIns="25400" rtlCol="0" anchor="t">
            <a:normAutofit/>
          </a:bodyPr>
          <a:lstStyle/>
          <a:p>
            <a:pPr algn="l" indent="0" marL="0">
              <a:buNone/>
            </a:pPr>
            <a:r>
              <a:rPr lang="en-US" sz="2250" b="1" spc="-22" kern="0" dirty="0">
                <a:solidFill>
                  <a:srgbClr val="E6EDF7"/>
                </a:solidFill>
                <a:latin typeface="Space Grotesk" pitchFamily="34" charset="0"/>
                <a:ea typeface="Space Grotesk" pitchFamily="34" charset="-122"/>
                <a:cs typeface="Space Grotesk" pitchFamily="34" charset="-120"/>
              </a:rPr>
              <a:t>Authorization</a:t>
            </a:r>
            <a:endParaRPr lang="en-US" sz="2250" dirty="0"/>
          </a:p>
        </p:txBody>
      </p:sp>
      <p:sp>
        <p:nvSpPr>
          <p:cNvPr id="19" name="Text 17"/>
          <p:cNvSpPr/>
          <p:nvPr/>
        </p:nvSpPr>
        <p:spPr>
          <a:xfrm>
            <a:off x="13592175" y="4346972"/>
            <a:ext cx="3492627" cy="67806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AAB7D2"/>
                </a:solidFill>
                <a:latin typeface="Space Grotesk" pitchFamily="34" charset="0"/>
                <a:ea typeface="Space Grotesk" pitchFamily="34" charset="-122"/>
                <a:cs typeface="Space Grotesk" pitchFamily="34" charset="-120"/>
              </a:rPr>
              <a:t>Two roles guarded by one middleware chain.</a:t>
            </a:r>
            <a:endParaRPr lang="en-US" sz="1800" dirty="0"/>
          </a:p>
        </p:txBody>
      </p:sp>
      <p:sp>
        <p:nvSpPr>
          <p:cNvPr id="20" name="Text 18"/>
          <p:cNvSpPr/>
          <p:nvPr/>
        </p:nvSpPr>
        <p:spPr>
          <a:xfrm>
            <a:off x="1066800" y="6244233"/>
            <a:ext cx="1813620" cy="3333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6E7B99"/>
                </a:solidFill>
                <a:latin typeface="JetBrains Mono" pitchFamily="34" charset="0"/>
                <a:ea typeface="JetBrains Mono" pitchFamily="34" charset="-122"/>
                <a:cs typeface="JetBrains Mono" pitchFamily="34" charset="-120"/>
              </a:rPr>
              <a:t>QUESTIONS?</a:t>
            </a:r>
            <a:endParaRPr lang="en-US" sz="1800" dirty="0"/>
          </a:p>
        </p:txBody>
      </p:sp>
      <p:sp>
        <p:nvSpPr>
          <p:cNvPr id="21" name="Text 19"/>
          <p:cNvSpPr/>
          <p:nvPr/>
        </p:nvSpPr>
        <p:spPr>
          <a:xfrm>
            <a:off x="3109020" y="6101358"/>
            <a:ext cx="6834567" cy="523875"/>
          </a:xfrm>
          <a:prstGeom prst="rect">
            <a:avLst/>
          </a:prstGeom>
          <a:noFill/>
          <a:ln/>
        </p:spPr>
        <p:txBody>
          <a:bodyPr wrap="square" lIns="25400" tIns="25400" rIns="25400" bIns="25400" rtlCol="0" anchor="t">
            <a:normAutofit/>
          </a:bodyPr>
          <a:lstStyle/>
          <a:p>
            <a:pPr algn="l" indent="0" marL="0">
              <a:buNone/>
            </a:pPr>
            <a:r>
              <a:rPr lang="en-US" sz="3000" dirty="0">
                <a:solidFill>
                  <a:srgbClr val="E6EDF7"/>
                </a:solidFill>
                <a:latin typeface="Space Grotesk" pitchFamily="34" charset="0"/>
                <a:ea typeface="Space Grotesk" pitchFamily="34" charset="-122"/>
                <a:cs typeface="Space Grotesk" pitchFamily="34" charset="-120"/>
              </a:rPr>
              <a:t>Thank you — Member A &amp; Member B.</a:t>
            </a:r>
            <a:endParaRPr lang="en-US" sz="3000" dirty="0"/>
          </a:p>
        </p:txBody>
      </p:sp>
      <p:sp>
        <p:nvSpPr>
          <p:cNvPr id="22" name="Shape 20"/>
          <p:cNvSpPr/>
          <p:nvPr/>
        </p:nvSpPr>
        <p:spPr>
          <a:xfrm>
            <a:off x="1066800" y="9553575"/>
            <a:ext cx="675977" cy="390525"/>
          </a:xfrm>
          <a:prstGeom prst="roundRect">
            <a:avLst>
              <a:gd name="adj" fmla="val 50000"/>
            </a:avLst>
          </a:prstGeom>
          <a:ln w="9525">
            <a:solidFill>
              <a:srgbClr val="94A3B8">
                <a:alpha val="18000"/>
              </a:srgbClr>
            </a:solidFill>
            <a:prstDash val="solid"/>
          </a:ln>
        </p:spPr>
      </p:sp>
      <p:sp>
        <p:nvSpPr>
          <p:cNvPr id="23" name="Text 21"/>
          <p:cNvSpPr/>
          <p:nvPr/>
        </p:nvSpPr>
        <p:spPr>
          <a:xfrm>
            <a:off x="1171575" y="9601200"/>
            <a:ext cx="542627"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AAB7D2"/>
                </a:solidFill>
                <a:latin typeface="JetBrains Mono" pitchFamily="34" charset="0"/>
                <a:ea typeface="JetBrains Mono" pitchFamily="34" charset="-122"/>
                <a:cs typeface="JetBrains Mono" pitchFamily="34" charset="-120"/>
              </a:rPr>
              <a:t>IAM</a:t>
            </a:r>
            <a:endParaRPr lang="en-US" sz="1800" dirty="0"/>
          </a:p>
        </p:txBody>
      </p:sp>
      <p:sp>
        <p:nvSpPr>
          <p:cNvPr id="24" name="Text 22"/>
          <p:cNvSpPr/>
          <p:nvPr/>
        </p:nvSpPr>
        <p:spPr>
          <a:xfrm>
            <a:off x="1876127" y="9601200"/>
            <a:ext cx="542627"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E7B99"/>
                </a:solidFill>
                <a:latin typeface="JetBrains Mono" pitchFamily="34" charset="0"/>
                <a:ea typeface="JetBrains Mono" pitchFamily="34" charset="-122"/>
                <a:cs typeface="JetBrains Mono" pitchFamily="34" charset="-120"/>
              </a:rPr>
              <a:t>Fin</a:t>
            </a:r>
            <a:endParaRPr lang="en-US" sz="1800" dirty="0"/>
          </a:p>
        </p:txBody>
      </p:sp>
      <p:sp>
        <p:nvSpPr>
          <p:cNvPr id="25" name="Text 23"/>
          <p:cNvSpPr/>
          <p:nvPr/>
        </p:nvSpPr>
        <p:spPr>
          <a:xfrm>
            <a:off x="16132969" y="9601200"/>
            <a:ext cx="1164431"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E7B99"/>
                </a:solidFill>
                <a:latin typeface="JetBrains Mono" pitchFamily="34" charset="0"/>
                <a:ea typeface="JetBrains Mono" pitchFamily="34" charset="-122"/>
                <a:cs typeface="JetBrains Mono" pitchFamily="34" charset="-120"/>
              </a:rPr>
              <a:t>11 / 11</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2026-05-16T00:24:14Z</dcterms:created>
  <dcterms:modified xsi:type="dcterms:W3CDTF">2026-05-16T00:24:14Z</dcterms:modified>
</cp:coreProperties>
</file>